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0"/>
  </p:notesMasterIdLst>
  <p:handoutMasterIdLst>
    <p:handoutMasterId r:id="rId31"/>
  </p:handoutMasterIdLst>
  <p:sldIdLst>
    <p:sldId id="321" r:id="rId5"/>
    <p:sldId id="322" r:id="rId6"/>
    <p:sldId id="329" r:id="rId7"/>
    <p:sldId id="336" r:id="rId8"/>
    <p:sldId id="337" r:id="rId9"/>
    <p:sldId id="338" r:id="rId10"/>
    <p:sldId id="339" r:id="rId11"/>
    <p:sldId id="340" r:id="rId12"/>
    <p:sldId id="330" r:id="rId13"/>
    <p:sldId id="334" r:id="rId14"/>
    <p:sldId id="341" r:id="rId15"/>
    <p:sldId id="342" r:id="rId16"/>
    <p:sldId id="343" r:id="rId17"/>
    <p:sldId id="344" r:id="rId18"/>
    <p:sldId id="345" r:id="rId19"/>
    <p:sldId id="325" r:id="rId20"/>
    <p:sldId id="335" r:id="rId21"/>
    <p:sldId id="346" r:id="rId22"/>
    <p:sldId id="347" r:id="rId23"/>
    <p:sldId id="348" r:id="rId24"/>
    <p:sldId id="350" r:id="rId25"/>
    <p:sldId id="349" r:id="rId26"/>
    <p:sldId id="324" r:id="rId27"/>
    <p:sldId id="331" r:id="rId28"/>
    <p:sldId id="332" r:id="rId2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 varScale="1">
        <p:scale>
          <a:sx n="47" d="100"/>
          <a:sy n="47" d="100"/>
        </p:scale>
        <p:origin x="77" y="93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8C29A-ECE9-644F-AB7B-8F0A69F8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80D9C-BE4A-0756-CEA9-20DAF2489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59F03-D1C0-67D7-E428-40C0DADFA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714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AA2D-3C79-C843-30B3-C9CA3394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B2ADC-5DCC-A6BF-867C-E4BC1BD8E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5E944-3D49-1136-4404-3AD58F23C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84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C38F4-B3B1-03CB-4D6F-EDA45FE8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2BB82-0BD1-A757-EDD1-22ED355DB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B2399-0308-30AA-8682-9650283BD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11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52923-6544-EDE4-AC0D-F0F24595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5C1BE-A29B-9AFE-FD89-B70CADC26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2F0E3-F979-5A98-A47C-4A76C7C78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4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05F7-25F9-3307-5016-4FC07704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EAC9FD-A1FB-140D-68E9-A139F9071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F77BB-917B-BEFF-8035-7CFE17401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085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9EDB1-552E-F7D5-F440-C58C3B458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D5BB7-DA2F-132A-5A62-42B53DBA2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60913-FBA1-B33E-15E0-1746B3F66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17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C26C-7911-F5B0-1137-377E732B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770DD-C1C6-41A5-DCBE-EAB04C78C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48FD5-7F6E-79C1-A57A-A87F56F20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282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61D0F-28E5-30C0-9AD3-68DF1FB0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59589-3304-ACAC-E7D8-E3673DC04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8AB36-A143-9E47-E2AE-2BDE19D23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022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9A31-8F39-A628-DE56-E34C2AA86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F9ADD-8F5A-2986-F7C1-146B368C1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A6E9A-D372-3C09-56B3-60FBB1851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32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5E56-2D87-F260-8BA5-EFB66C08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AD806-AA6D-261C-64EE-1CEC509D8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91440-E4A3-767B-B9B9-12AAB3D9A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904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300BC-EBAE-8B3A-2295-EFD94328C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D48BC-11D5-22F2-A841-162328F7B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09EFE-B1F9-8360-489F-95E83CF46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566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FD3B-594F-4764-A76A-D6982519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DA1A2-9EA0-3C38-E213-EEFCC6A0B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49918-3B6E-97F9-AB88-DFC9F8BBF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92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9347-A351-F333-5E9F-630D19D1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A0A14-FA56-13F2-ACB3-4E94B7B25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8F342-01B1-1172-E953-04A3ADD36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211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4BC5C-5E34-6EE4-8055-ED9301B6F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D1E22-D02D-1069-B5AD-F3016F3FB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A1B62-DA9B-145A-C989-AD2B2899C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38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6333-4049-F375-3119-368276C3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2EC9B-585D-9129-B7C3-7B7554817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300F3-03D8-DBA0-3352-660C5751C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224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CFA56-CAA2-E817-6BA4-ECCD63A7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4845B-2E6C-07FB-E4CD-70EC2BB37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B01CF-9538-8D5E-02E6-F374313E1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949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5D2D-649E-49B4-0338-0948DACA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6AAE0-8FF1-73BF-D513-5D09A530F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416A2-7F3F-8B26-83A5-A12F97A32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929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B796-7057-80CA-9AD7-B5B54601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AED57-9FE6-19C4-1E81-50E588294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96366-D525-951E-1CA3-FE0FE23D4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945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95024-2BC5-4F43-F715-22CD74B35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F7709-CE58-2835-9AC2-1F6923CAB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9D0EC-D030-3C1D-0D16-BDA587CF2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067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DBA20-7670-9586-8CD8-D589F4B6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25569-BE51-7905-C167-928C10B5F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E0214-9CB6-B041-0383-5F91DD50B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325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C7D1-2726-832D-8761-6AC07DBA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17C00D-9E00-3381-4F65-3B5210AA6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11274-86C0-970F-A8FD-256D94815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577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8614-F6A3-887B-B575-95B27983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B5C3D-89AB-5837-022B-3DCD2A410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9167C-A0A6-17CA-5207-7F124CA2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0962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371C8-E5C1-7F36-4EC6-1B5807ED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475E5-4B07-4130-2D64-6667FCA79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BA8BC-B9F5-C63E-0C0F-6999EB184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2276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E0A5-A3C3-458F-44A1-DE48DA852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16337-9A62-B61B-6A29-81CD33AB8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40ED9-DBD4-E083-92A4-3B5504DAC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4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BE26F-E071-4777-979A-DBB0F0DC0774}"/>
              </a:ext>
            </a:extLst>
          </p:cNvPr>
          <p:cNvSpPr txBox="1"/>
          <p:nvPr/>
        </p:nvSpPr>
        <p:spPr>
          <a:xfrm>
            <a:off x="1814628" y="1168510"/>
            <a:ext cx="91176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Navigating The Future of Online Shopping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81845F-58E3-026D-20E7-F44A28A724CC}"/>
              </a:ext>
            </a:extLst>
          </p:cNvPr>
          <p:cNvSpPr txBox="1"/>
          <p:nvPr/>
        </p:nvSpPr>
        <p:spPr>
          <a:xfrm>
            <a:off x="2746612" y="2442583"/>
            <a:ext cx="7253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Ecommerce Analysis Using Python and SQL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0876B5-A1EB-39C6-582D-2B9193628E87}"/>
              </a:ext>
            </a:extLst>
          </p:cNvPr>
          <p:cNvSpPr txBox="1"/>
          <p:nvPr/>
        </p:nvSpPr>
        <p:spPr>
          <a:xfrm>
            <a:off x="5008748" y="6262075"/>
            <a:ext cx="191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Shreyash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B3C2D-FB00-E395-7AB2-2206DDD18691}"/>
              </a:ext>
            </a:extLst>
          </p:cNvPr>
          <p:cNvSpPr txBox="1"/>
          <p:nvPr/>
        </p:nvSpPr>
        <p:spPr>
          <a:xfrm>
            <a:off x="2646484" y="3531990"/>
            <a:ext cx="80889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(MySQL) – Data Extraction, Querying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(Pandas, Matplotlib) – Data Analysis,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– Data Cleaning &gt; Analysis &gt; Visualization &gt; Insights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644A-3D01-1EE0-C7B1-58F7168F3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38D17-A58E-6FB0-A97B-0950CFA865E8}"/>
              </a:ext>
            </a:extLst>
          </p:cNvPr>
          <p:cNvSpPr txBox="1"/>
          <p:nvPr/>
        </p:nvSpPr>
        <p:spPr>
          <a:xfrm>
            <a:off x="4218842" y="879231"/>
            <a:ext cx="3754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1AC91-2A37-A349-5005-758888C60700}"/>
              </a:ext>
            </a:extLst>
          </p:cNvPr>
          <p:cNvSpPr txBox="1"/>
          <p:nvPr/>
        </p:nvSpPr>
        <p:spPr>
          <a:xfrm>
            <a:off x="1503485" y="2664069"/>
            <a:ext cx="100759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captures transactional data from a multi-category e-commerce platform that connects customers and sellers across diverse regions. The platform supports a broad product catalog and flexible payment options, including installment plans.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competition in the e-commerce landscape intensifies, analyzing customer behavior, sales performance, and seller contributions becomes essential for driving sustainable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2307520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EBEF3-36C2-029D-9AE5-CD3778EB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1188A8-6B3F-F2E0-EA44-795348B40D7D}"/>
              </a:ext>
            </a:extLst>
          </p:cNvPr>
          <p:cNvSpPr txBox="1"/>
          <p:nvPr/>
        </p:nvSpPr>
        <p:spPr>
          <a:xfrm>
            <a:off x="4322048" y="867927"/>
            <a:ext cx="3896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- Basics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F4118D-C074-468D-1B7C-5C9CAA441CBE}"/>
              </a:ext>
            </a:extLst>
          </p:cNvPr>
          <p:cNvSpPr txBox="1"/>
          <p:nvPr/>
        </p:nvSpPr>
        <p:spPr>
          <a:xfrm>
            <a:off x="1894114" y="1752443"/>
            <a:ext cx="8752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Extract fundamental insights from the dataset.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22193-3B34-9602-6728-8BE2F08CA34B}"/>
              </a:ext>
            </a:extLst>
          </p:cNvPr>
          <p:cNvSpPr txBox="1"/>
          <p:nvPr/>
        </p:nvSpPr>
        <p:spPr>
          <a:xfrm>
            <a:off x="2008414" y="2922462"/>
            <a:ext cx="9944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cities where customers are located – 4119 cities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orders placed in 2017 – 45,101 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per category – health &amp; Beauty  Rs 1.25m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orders paid in installments – 51.46%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customers from each state – SP leads with 41,746</a:t>
            </a:r>
          </a:p>
        </p:txBody>
      </p:sp>
    </p:spTree>
    <p:extLst>
      <p:ext uri="{BB962C8B-B14F-4D97-AF65-F5344CB8AC3E}">
        <p14:creationId xmlns:p14="http://schemas.microsoft.com/office/powerpoint/2010/main" val="306688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5A88B-1CF4-4489-42D1-7A6063A9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A4825E-C8EF-A40C-8B59-4BB5C0291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210" y="1874847"/>
            <a:ext cx="5082980" cy="10316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ADDBAB-59A5-533B-BEF6-FB28AF89C65B}"/>
              </a:ext>
            </a:extLst>
          </p:cNvPr>
          <p:cNvSpPr txBox="1"/>
          <p:nvPr/>
        </p:nvSpPr>
        <p:spPr>
          <a:xfrm>
            <a:off x="2934117" y="605036"/>
            <a:ext cx="7565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Q1. LIST ALL UNIQUE CITIES WHERE CUSTOMERS ARE LOCATED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979C65-DD6F-2612-8BE0-27C332D74B19}"/>
              </a:ext>
            </a:extLst>
          </p:cNvPr>
          <p:cNvSpPr txBox="1"/>
          <p:nvPr/>
        </p:nvSpPr>
        <p:spPr>
          <a:xfrm>
            <a:off x="2063678" y="1085240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99E773-8F8B-639C-2965-88AD60430335}"/>
              </a:ext>
            </a:extLst>
          </p:cNvPr>
          <p:cNvSpPr txBox="1"/>
          <p:nvPr/>
        </p:nvSpPr>
        <p:spPr>
          <a:xfrm>
            <a:off x="8594479" y="1029804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210E5E-D5B3-B11C-0624-2B52F365C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310" y="3575495"/>
            <a:ext cx="4077053" cy="17679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9B53B2-9CFF-14B6-7DE3-43656ECF6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33" y="3722452"/>
            <a:ext cx="5342083" cy="12207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A6D326-65C4-BB6D-994D-C4C5AC1F0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33" y="1874847"/>
            <a:ext cx="4604659" cy="8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90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BD4D-E882-C80C-45AB-0F9DE83E3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5D65AFC-F83A-E9A2-EA4B-D698866CCF8B}"/>
              </a:ext>
            </a:extLst>
          </p:cNvPr>
          <p:cNvSpPr txBox="1"/>
          <p:nvPr/>
        </p:nvSpPr>
        <p:spPr>
          <a:xfrm>
            <a:off x="3543299" y="457501"/>
            <a:ext cx="6531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Q2. COUNT THE NUMBER OF ORDERS PLACED IN 2017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3BD5C-ABC6-ACB4-8F9B-CB998BC7575A}"/>
              </a:ext>
            </a:extLst>
          </p:cNvPr>
          <p:cNvSpPr txBox="1"/>
          <p:nvPr/>
        </p:nvSpPr>
        <p:spPr>
          <a:xfrm>
            <a:off x="1982038" y="1021777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270176-2C4B-9A7C-3AE0-DBA39648028E}"/>
              </a:ext>
            </a:extLst>
          </p:cNvPr>
          <p:cNvSpPr txBox="1"/>
          <p:nvPr/>
        </p:nvSpPr>
        <p:spPr>
          <a:xfrm>
            <a:off x="8676542" y="1021778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2710E8-E5F1-ECD1-8EEC-054349662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682" y="2098990"/>
            <a:ext cx="4007160" cy="14200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119392-1C59-4BA1-8EBF-55EEE0DD3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890" y="4176650"/>
            <a:ext cx="3520745" cy="1420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C103D1-994E-CB71-E77E-81043A34B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268" y="2098990"/>
            <a:ext cx="4825717" cy="1485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71B109-E2D5-CFA6-7C36-759CD73F9F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737" y="4353788"/>
            <a:ext cx="2104780" cy="102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5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33BED-CE9E-D0ED-7C88-68FDF10AC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890DBD-85C6-D403-2692-DFFE059D3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07" y="1514834"/>
            <a:ext cx="4338549" cy="27758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EB9F6C-3979-3246-1647-3779CDFF1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249" y="4646648"/>
            <a:ext cx="4895269" cy="2148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5BD42F-375E-2C5C-D1B9-230C6AB00B2C}"/>
              </a:ext>
            </a:extLst>
          </p:cNvPr>
          <p:cNvSpPr txBox="1"/>
          <p:nvPr/>
        </p:nvSpPr>
        <p:spPr>
          <a:xfrm>
            <a:off x="3917206" y="4081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Q3. FIND THE TOTAL SALES PER CATEGORY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002F1-34D3-3AB2-A0D2-B95FCDB44720}"/>
              </a:ext>
            </a:extLst>
          </p:cNvPr>
          <p:cNvSpPr txBox="1"/>
          <p:nvPr/>
        </p:nvSpPr>
        <p:spPr>
          <a:xfrm>
            <a:off x="2355081" y="1048929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126D2-E1A5-10D4-1420-417BACD027BB}"/>
              </a:ext>
            </a:extLst>
          </p:cNvPr>
          <p:cNvSpPr txBox="1"/>
          <p:nvPr/>
        </p:nvSpPr>
        <p:spPr>
          <a:xfrm>
            <a:off x="8452843" y="1080605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06CCF1-46AF-F55F-E3E2-DAE22A7C1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528" y="1356706"/>
            <a:ext cx="5959356" cy="31336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D39D73-34E6-F630-0CA4-2C2723C2F6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1416" y="4490357"/>
            <a:ext cx="4531440" cy="230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74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69B1-14A1-8C42-39C7-C2E83FC5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7DEEAC-1C58-A01D-4BA9-87159C52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460" y="1740284"/>
            <a:ext cx="5311600" cy="2399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3CD35E-95F9-0F78-6113-872E0A0C0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00" y="1740283"/>
            <a:ext cx="5311600" cy="2399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707B15-5572-618F-3510-59C68B809E12}"/>
              </a:ext>
            </a:extLst>
          </p:cNvPr>
          <p:cNvSpPr txBox="1"/>
          <p:nvPr/>
        </p:nvSpPr>
        <p:spPr>
          <a:xfrm>
            <a:off x="2058176" y="483987"/>
            <a:ext cx="953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Q4. CALCULATE THE PERCENTAGE OF ORDERS THAT WERE PAID IN INSTALLMENTS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044612-C6D0-3CD1-5D71-48541ADAD67D}"/>
              </a:ext>
            </a:extLst>
          </p:cNvPr>
          <p:cNvSpPr txBox="1"/>
          <p:nvPr/>
        </p:nvSpPr>
        <p:spPr>
          <a:xfrm>
            <a:off x="2569761" y="1081932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5D6562-030D-7E4A-9AEE-DD58900E75DE}"/>
              </a:ext>
            </a:extLst>
          </p:cNvPr>
          <p:cNvSpPr txBox="1"/>
          <p:nvPr/>
        </p:nvSpPr>
        <p:spPr>
          <a:xfrm>
            <a:off x="8751802" y="1078040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B61CB8-6DA1-4D6C-5F21-F2732CEB7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0542" y="5026586"/>
            <a:ext cx="1342055" cy="735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35B484-EFA0-27D1-3373-2AB58FA26B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0732" y="4751171"/>
            <a:ext cx="3635055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428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C61F-5E03-4858-9E3B-A73F0AE7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F212BC-D2C3-FB78-8099-80E85D6D8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690" y="1651138"/>
            <a:ext cx="4259488" cy="13135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61BE22-E23D-6CF9-C348-84DF96F42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811" y="1615011"/>
            <a:ext cx="4740051" cy="1599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9E9DC0-BF23-173E-1597-155DDE2DD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520" y="3429000"/>
            <a:ext cx="3505199" cy="23823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30B557-E6A7-47FB-EB53-6B48B5A5C25B}"/>
              </a:ext>
            </a:extLst>
          </p:cNvPr>
          <p:cNvSpPr txBox="1"/>
          <p:nvPr/>
        </p:nvSpPr>
        <p:spPr>
          <a:xfrm>
            <a:off x="2580542" y="604158"/>
            <a:ext cx="7299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Q5. COUNT THE NUMBER OF CUSTOMERS FROM EACH STATE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E04A2-7696-91D0-F7B3-4F0DFA511877}"/>
              </a:ext>
            </a:extLst>
          </p:cNvPr>
          <p:cNvSpPr txBox="1"/>
          <p:nvPr/>
        </p:nvSpPr>
        <p:spPr>
          <a:xfrm>
            <a:off x="2145322" y="1046619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BB0092-8D90-D824-5F57-B91E8289FA3C}"/>
              </a:ext>
            </a:extLst>
          </p:cNvPr>
          <p:cNvSpPr txBox="1"/>
          <p:nvPr/>
        </p:nvSpPr>
        <p:spPr>
          <a:xfrm>
            <a:off x="8873445" y="1062948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1B672-0E3B-C05F-73FD-6D0C9A13A3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277" y="3245124"/>
            <a:ext cx="5006774" cy="278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259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B2B9-CE3E-E614-295D-38D431FA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F6FB09-2261-C4D8-AB47-9DF34FBEB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5765" y="767442"/>
            <a:ext cx="9242211" cy="576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77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484D-4CDB-B063-E7D8-B18E19DA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5D7104-06BE-69BA-4EFF-210279037BD3}"/>
              </a:ext>
            </a:extLst>
          </p:cNvPr>
          <p:cNvSpPr txBox="1"/>
          <p:nvPr/>
        </p:nvSpPr>
        <p:spPr>
          <a:xfrm>
            <a:off x="4322047" y="867927"/>
            <a:ext cx="4903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- Intermediate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DB901-87FB-7D35-062E-0E69CBC6C3CF}"/>
              </a:ext>
            </a:extLst>
          </p:cNvPr>
          <p:cNvSpPr txBox="1"/>
          <p:nvPr/>
        </p:nvSpPr>
        <p:spPr>
          <a:xfrm>
            <a:off x="1894114" y="1752443"/>
            <a:ext cx="8752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Dive deeper into sales and order trends.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4696E-DAFD-31D2-6BAC-71F56832824A}"/>
              </a:ext>
            </a:extLst>
          </p:cNvPr>
          <p:cNvSpPr txBox="1"/>
          <p:nvPr/>
        </p:nvSpPr>
        <p:spPr>
          <a:xfrm>
            <a:off x="2008414" y="2922462"/>
            <a:ext cx="9944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per month in 2018 – January peak 6,288 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Avg products per order by city – Padre Carvalho, 7 products/orders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% by product category – Health &amp; Beauty 9.26%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purchase frequency – Most purchased products, 527 times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by seller ranked – Top seller, Rs 2,29,472</a:t>
            </a:r>
          </a:p>
        </p:txBody>
      </p:sp>
    </p:spTree>
    <p:extLst>
      <p:ext uri="{BB962C8B-B14F-4D97-AF65-F5344CB8AC3E}">
        <p14:creationId xmlns:p14="http://schemas.microsoft.com/office/powerpoint/2010/main" val="2008065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9730-7E90-9CB8-DE1E-8B6D505B4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267D81-D8F2-4774-A4CA-D38481930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786" y="1713839"/>
            <a:ext cx="3696020" cy="19764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48A3D1-C8D4-3054-5DF1-F7FDB4E92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7957" y="4259375"/>
            <a:ext cx="4168501" cy="2370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506622-4F41-A7FB-0816-46579052E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7894" y="4175760"/>
            <a:ext cx="2316520" cy="26822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A0849B-87AB-2C5F-E56D-9485EA7225CD}"/>
              </a:ext>
            </a:extLst>
          </p:cNvPr>
          <p:cNvSpPr txBox="1"/>
          <p:nvPr/>
        </p:nvSpPr>
        <p:spPr>
          <a:xfrm>
            <a:off x="3015762" y="581251"/>
            <a:ext cx="7255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Q6. CALCULATE THE NUMBER OF ORDERS PER MONTH IN 2018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71C028-9CA5-D877-4F9F-F7AC5AC39FEF}"/>
              </a:ext>
            </a:extLst>
          </p:cNvPr>
          <p:cNvSpPr txBox="1"/>
          <p:nvPr/>
        </p:nvSpPr>
        <p:spPr>
          <a:xfrm>
            <a:off x="2145323" y="1171840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282D7A-D442-BD44-2979-891E74800BAE}"/>
              </a:ext>
            </a:extLst>
          </p:cNvPr>
          <p:cNvSpPr txBox="1"/>
          <p:nvPr/>
        </p:nvSpPr>
        <p:spPr>
          <a:xfrm>
            <a:off x="8865577" y="1092198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6FDFE5-D368-AC10-4136-41C8AC05F0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400" y="1700874"/>
            <a:ext cx="5311600" cy="234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82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F534-12BB-F76D-95F9-CB1B64A1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268635-70A8-ADEF-3C33-21E0F2308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262" y="1442398"/>
            <a:ext cx="4254900" cy="20534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F707DF-437B-F726-6598-CA8CD261C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743" y="4057300"/>
            <a:ext cx="4254900" cy="26040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6FE268-BC05-B4E3-791C-226D69D47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3437" y="4728772"/>
            <a:ext cx="3765620" cy="17983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63A410A-50C8-A33D-ED30-B0924D52D6E2}"/>
              </a:ext>
            </a:extLst>
          </p:cNvPr>
          <p:cNvSpPr txBox="1"/>
          <p:nvPr/>
        </p:nvSpPr>
        <p:spPr>
          <a:xfrm>
            <a:off x="2030760" y="552712"/>
            <a:ext cx="10161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 Q7. FIND THE AVERAGE NUMBER OF PRODUCTS PER ORDER, GROUPED BY CUSTOMER CITY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FF9A3F-FD6A-CF0F-D0DB-E164B7AE2716}"/>
              </a:ext>
            </a:extLst>
          </p:cNvPr>
          <p:cNvSpPr txBox="1"/>
          <p:nvPr/>
        </p:nvSpPr>
        <p:spPr>
          <a:xfrm>
            <a:off x="2145323" y="931873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396A10-1FAF-E61C-00EB-61E8C83CEC1E}"/>
              </a:ext>
            </a:extLst>
          </p:cNvPr>
          <p:cNvSpPr txBox="1"/>
          <p:nvPr/>
        </p:nvSpPr>
        <p:spPr>
          <a:xfrm>
            <a:off x="8948973" y="931872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DEBA5-4BA0-CF8B-5178-6966536FF5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638" y="1442398"/>
            <a:ext cx="5616427" cy="30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9A024-EF88-6CBC-7F23-F5654EB6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46D334-8BF4-92BB-6B93-2EDFA21FC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7779" y="1045894"/>
            <a:ext cx="4972463" cy="28845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7E51CA-88C6-39B7-8D50-6C6BD7998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303" y="4595022"/>
            <a:ext cx="3436918" cy="202227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36ECD71-9338-4797-527D-272D2709B8DA}"/>
              </a:ext>
            </a:extLst>
          </p:cNvPr>
          <p:cNvSpPr txBox="1"/>
          <p:nvPr/>
        </p:nvSpPr>
        <p:spPr>
          <a:xfrm>
            <a:off x="2343880" y="537480"/>
            <a:ext cx="9187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Q8. CALCULATE THE PERCENTAGE OF TOTAL REVENUE CONTRIBUTED BY EACH  PRODUCT CATEGORY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F646EC-8DB4-C7F0-28B5-80EEDEB46147}"/>
              </a:ext>
            </a:extLst>
          </p:cNvPr>
          <p:cNvSpPr txBox="1"/>
          <p:nvPr/>
        </p:nvSpPr>
        <p:spPr>
          <a:xfrm>
            <a:off x="1908661" y="738646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D7F8AF-C873-794F-07E7-E00C4E680439}"/>
              </a:ext>
            </a:extLst>
          </p:cNvPr>
          <p:cNvSpPr txBox="1"/>
          <p:nvPr/>
        </p:nvSpPr>
        <p:spPr>
          <a:xfrm>
            <a:off x="8645286" y="738117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8EA07F-3F3D-B6C7-0B01-A9D6721AD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351" y="1046423"/>
            <a:ext cx="5532599" cy="3482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E175C-217F-03F9-209A-A623D98B3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7772" y="4131129"/>
            <a:ext cx="4953429" cy="238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12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6DC9F-34B2-D465-F5C0-2A93202B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42B7FE4-DF89-3F53-C770-EDC2472E9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097" y="1719392"/>
            <a:ext cx="5159187" cy="27586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6D04A8-A7D0-5C53-1A66-4F31C6A2F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18" y="5468530"/>
            <a:ext cx="5159187" cy="3426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F60C62-5075-C643-BD72-5B6E7E084428}"/>
              </a:ext>
            </a:extLst>
          </p:cNvPr>
          <p:cNvSpPr txBox="1"/>
          <p:nvPr/>
        </p:nvSpPr>
        <p:spPr>
          <a:xfrm>
            <a:off x="1028700" y="634831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Q9. IDENTIFY THE CORRELATION BETWEEN PRODUCT PRICE AND THE NUMBER OF TIMES A PRODUCT HAS BEEN PURCHASED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44D561-A54C-E2C7-6DCB-9E6A25A145C4}"/>
              </a:ext>
            </a:extLst>
          </p:cNvPr>
          <p:cNvSpPr txBox="1"/>
          <p:nvPr/>
        </p:nvSpPr>
        <p:spPr>
          <a:xfrm>
            <a:off x="2145323" y="980382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98D7C1-8F57-47C4-D607-340A7AE269B4}"/>
              </a:ext>
            </a:extLst>
          </p:cNvPr>
          <p:cNvSpPr txBox="1"/>
          <p:nvPr/>
        </p:nvSpPr>
        <p:spPr>
          <a:xfrm>
            <a:off x="8930817" y="980382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7EA78-AD2C-E743-09F1-4E3F95927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431" y="1719392"/>
            <a:ext cx="5616427" cy="28707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0288AF-CE41-42EA-2F48-4032AAE75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223" y="5366938"/>
            <a:ext cx="3619877" cy="70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37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1E7A3-85C2-1C55-A6B5-71C96F37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A4AFCF-F7B9-E16C-BAD7-5585A4E4A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991" y="1141908"/>
            <a:ext cx="3711262" cy="22870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9FA8D3-56C4-D9EB-CEB2-B9BF65DAF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414" y="3507136"/>
            <a:ext cx="4623785" cy="31774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7C485E-9220-6203-16E9-A04475596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867" y="4538968"/>
            <a:ext cx="4192720" cy="20080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0C5A67-35BC-1D7A-E5DC-CC2DF2D880CA}"/>
              </a:ext>
            </a:extLst>
          </p:cNvPr>
          <p:cNvSpPr txBox="1"/>
          <p:nvPr/>
        </p:nvSpPr>
        <p:spPr>
          <a:xfrm>
            <a:off x="1758718" y="500331"/>
            <a:ext cx="10874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Q10. CALCULATE THE TOTAL REVENUE GENERATED BY EACH SELLER, AND RANK THEM BY REVENUE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A2843B-D56B-CC1F-C287-B7BE064EDFF0}"/>
              </a:ext>
            </a:extLst>
          </p:cNvPr>
          <p:cNvSpPr txBox="1"/>
          <p:nvPr/>
        </p:nvSpPr>
        <p:spPr>
          <a:xfrm>
            <a:off x="2387483" y="717091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A77C1E-079E-1E7E-5212-9318E90EF249}"/>
              </a:ext>
            </a:extLst>
          </p:cNvPr>
          <p:cNvSpPr txBox="1"/>
          <p:nvPr/>
        </p:nvSpPr>
        <p:spPr>
          <a:xfrm>
            <a:off x="8934078" y="786648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27FEA-259F-34CE-3D65-DD09CDEEE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457" y="1141908"/>
            <a:ext cx="5230586" cy="317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5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F757-7344-D141-D4DC-D7F64FE9A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8EBC85-A288-FEE1-719F-5258F9B0D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033" y="685800"/>
            <a:ext cx="923698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23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E9DDD-7244-7399-2747-04B19A58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9EAF32-1DC8-C80A-78BF-2776138D2656}"/>
              </a:ext>
            </a:extLst>
          </p:cNvPr>
          <p:cNvSpPr txBox="1"/>
          <p:nvPr/>
        </p:nvSpPr>
        <p:spPr>
          <a:xfrm>
            <a:off x="4322047" y="867927"/>
            <a:ext cx="45770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- Advanced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E3FC7B-0095-CB41-A8A1-C425A77751AD}"/>
              </a:ext>
            </a:extLst>
          </p:cNvPr>
          <p:cNvSpPr txBox="1"/>
          <p:nvPr/>
        </p:nvSpPr>
        <p:spPr>
          <a:xfrm>
            <a:off x="1894114" y="1752443"/>
            <a:ext cx="87521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Generate strategic and customer-centric insights.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563AC-EC4B-C15D-85D9-B4CBBEB908C0}"/>
              </a:ext>
            </a:extLst>
          </p:cNvPr>
          <p:cNvSpPr txBox="1"/>
          <p:nvPr/>
        </p:nvSpPr>
        <p:spPr>
          <a:xfrm>
            <a:off x="2008414" y="2922462"/>
            <a:ext cx="9944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average of order values – Tracks customer spending trends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sales per month – 2018 hit, Rs 6.35 by August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Year-over-year growth rate – 2017 grew 12,745% vs 2016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rate – 0% most buy only once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3 customers per year – 2017 top spender, Rs 13,440</a:t>
            </a:r>
          </a:p>
        </p:txBody>
      </p:sp>
    </p:spTree>
    <p:extLst>
      <p:ext uri="{BB962C8B-B14F-4D97-AF65-F5344CB8AC3E}">
        <p14:creationId xmlns:p14="http://schemas.microsoft.com/office/powerpoint/2010/main" val="4077774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D5E6-12CD-16D6-DC4D-3659D03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C16FA7-B4B0-BEB5-9ED9-E03E464B2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503" y="1224646"/>
            <a:ext cx="4606683" cy="224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3F1290-3A96-C010-0118-AEEB8874A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971" y="3713450"/>
            <a:ext cx="4980215" cy="28582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6E2D63-98BB-E3E0-C6C7-24D23045499E}"/>
              </a:ext>
            </a:extLst>
          </p:cNvPr>
          <p:cNvSpPr txBox="1"/>
          <p:nvPr/>
        </p:nvSpPr>
        <p:spPr>
          <a:xfrm>
            <a:off x="1600201" y="509587"/>
            <a:ext cx="10591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Q11. CALCULATE THE  MOVING AVERAGE OF ORDER VALUES FOR EACH CUSTOMER OVER THEIR ORDER HISTORY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89D391-2D62-5A77-1B49-68015EFF5A72}"/>
              </a:ext>
            </a:extLst>
          </p:cNvPr>
          <p:cNvSpPr txBox="1"/>
          <p:nvPr/>
        </p:nvSpPr>
        <p:spPr>
          <a:xfrm>
            <a:off x="2145323" y="893516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B8E1E1-C4DE-3F46-E914-CC4622EF8A30}"/>
              </a:ext>
            </a:extLst>
          </p:cNvPr>
          <p:cNvSpPr txBox="1"/>
          <p:nvPr/>
        </p:nvSpPr>
        <p:spPr>
          <a:xfrm>
            <a:off x="8937064" y="888955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14704-863F-38CD-ECC5-384A74F791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30" y="1224647"/>
            <a:ext cx="5578323" cy="3127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B73486-1DAE-FEFA-7350-DB6AB6119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779" y="4424064"/>
            <a:ext cx="5916607" cy="221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62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35FA-3FAC-6223-1370-15D213995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CE1E9E-0D33-9A97-C63E-FDBA4A468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336" y="1518500"/>
            <a:ext cx="3977985" cy="24451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E7FA4C-33B8-459B-8723-BB3B88D1E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336" y="4027332"/>
            <a:ext cx="4621221" cy="27297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FA8BC4-F16A-175E-5BA6-C92DD4B86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092" y="4376437"/>
            <a:ext cx="4908461" cy="23002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2FC41B-4AC8-479E-D4F0-C00514516A95}"/>
              </a:ext>
            </a:extLst>
          </p:cNvPr>
          <p:cNvSpPr txBox="1"/>
          <p:nvPr/>
        </p:nvSpPr>
        <p:spPr>
          <a:xfrm>
            <a:off x="2738175" y="496857"/>
            <a:ext cx="9067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Q12. CALCULATE THE CUMULATIVE SALES PER MONTH FOR  EACH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EC3FB-48B2-7817-E7EA-E44892C9D2E9}"/>
              </a:ext>
            </a:extLst>
          </p:cNvPr>
          <p:cNvSpPr txBox="1"/>
          <p:nvPr/>
        </p:nvSpPr>
        <p:spPr>
          <a:xfrm>
            <a:off x="2145323" y="1147074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600B6E-974F-A66A-933F-624EBF262655}"/>
              </a:ext>
            </a:extLst>
          </p:cNvPr>
          <p:cNvSpPr txBox="1"/>
          <p:nvPr/>
        </p:nvSpPr>
        <p:spPr>
          <a:xfrm>
            <a:off x="8865577" y="1147074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B29A6-C54B-43CD-C2CF-82AAE7A20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47" y="1518501"/>
            <a:ext cx="5798153" cy="279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36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2E592-B9B0-7D4B-C69E-DEEDA11D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9E6C13-DB72-7032-863C-7961180EB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496" y="1236647"/>
            <a:ext cx="4343776" cy="2953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C9A118-602E-F6F4-0FE8-5E5537A9C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62" y="4588952"/>
            <a:ext cx="4503810" cy="15317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0A0C1B-8099-BA89-873F-140CBDA89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732" y="4588952"/>
            <a:ext cx="3177815" cy="15317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9BDE8A-0C7E-8E80-AA01-4F33978473B2}"/>
              </a:ext>
            </a:extLst>
          </p:cNvPr>
          <p:cNvSpPr txBox="1"/>
          <p:nvPr/>
        </p:nvSpPr>
        <p:spPr>
          <a:xfrm>
            <a:off x="2580541" y="468697"/>
            <a:ext cx="922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Q13. CALCULATE THE YEAR OVER YEAR GROWTH RATE OF TOTAL SALES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93FF0D-0E82-3FCA-F6B3-9244F68819C0}"/>
              </a:ext>
            </a:extLst>
          </p:cNvPr>
          <p:cNvSpPr txBox="1"/>
          <p:nvPr/>
        </p:nvSpPr>
        <p:spPr>
          <a:xfrm>
            <a:off x="2345200" y="808765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4D0E4A-2597-8328-4789-7C362F6A79D9}"/>
              </a:ext>
            </a:extLst>
          </p:cNvPr>
          <p:cNvSpPr txBox="1"/>
          <p:nvPr/>
        </p:nvSpPr>
        <p:spPr>
          <a:xfrm>
            <a:off x="8541143" y="779500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D78F7-580A-32B9-2A2D-E115D855AC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872" y="1375147"/>
            <a:ext cx="4549534" cy="295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75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71DFB-ED6D-EAC8-AD14-08E8D584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54378D-5D72-6617-AC77-D0F53D672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007" y="1525571"/>
            <a:ext cx="4511431" cy="27967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2C58F6-DCE0-21CE-DFDE-55444BFFC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247" y="5094114"/>
            <a:ext cx="4054191" cy="952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A19719-7635-C8DB-FA63-41EEF1440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732" y="5372269"/>
            <a:ext cx="1234547" cy="3962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CFEAA6-ADDE-E3DC-C66E-75B3345753D8}"/>
              </a:ext>
            </a:extLst>
          </p:cNvPr>
          <p:cNvSpPr txBox="1"/>
          <p:nvPr/>
        </p:nvSpPr>
        <p:spPr>
          <a:xfrm>
            <a:off x="876658" y="455793"/>
            <a:ext cx="115765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Q14. CALCULATE THE RETENSION RATE OF CUSTOMERS, DEFINED AS THE PERCENTAGE OF CUSTOMERS WHO MAKE ANOTHER PURCHASE WITHIN 6 MONTHS OF THEIR FIRST PURCHASE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33F63-6665-2795-D843-0C6494A246CC}"/>
              </a:ext>
            </a:extLst>
          </p:cNvPr>
          <p:cNvSpPr txBox="1"/>
          <p:nvPr/>
        </p:nvSpPr>
        <p:spPr>
          <a:xfrm>
            <a:off x="2276566" y="1145822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787A6-928B-8773-CAF0-F53DD92BAA52}"/>
              </a:ext>
            </a:extLst>
          </p:cNvPr>
          <p:cNvSpPr txBox="1"/>
          <p:nvPr/>
        </p:nvSpPr>
        <p:spPr>
          <a:xfrm>
            <a:off x="8865577" y="1145822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FD0D4-7E7B-06D5-4A2B-70D723273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567" y="1497296"/>
            <a:ext cx="5360533" cy="352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79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8DDD-AA92-E725-CDBD-A2BFC2DB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3DE56D-0214-B2A7-0185-5FBA4271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387" y="1628350"/>
            <a:ext cx="4895508" cy="2253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924724-9309-2C32-83F7-81C043DCA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387" y="4137787"/>
            <a:ext cx="4895508" cy="25986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EAC894-F3FA-F113-F447-E909ACDAD533}"/>
              </a:ext>
            </a:extLst>
          </p:cNvPr>
          <p:cNvSpPr txBox="1"/>
          <p:nvPr/>
        </p:nvSpPr>
        <p:spPr>
          <a:xfrm>
            <a:off x="1616529" y="817416"/>
            <a:ext cx="9940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Q15. IDENTIFY THE TOP 3 CUSTOMERS WHO SPENT THE MOST MONEY IN EACH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78210B-0CEA-FA0E-9101-1B3F3251F6E6}"/>
              </a:ext>
            </a:extLst>
          </p:cNvPr>
          <p:cNvSpPr txBox="1"/>
          <p:nvPr/>
        </p:nvSpPr>
        <p:spPr>
          <a:xfrm>
            <a:off x="2145323" y="1239585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003E4B-A218-D632-7E60-529A57B14858}"/>
              </a:ext>
            </a:extLst>
          </p:cNvPr>
          <p:cNvSpPr txBox="1"/>
          <p:nvPr/>
        </p:nvSpPr>
        <p:spPr>
          <a:xfrm>
            <a:off x="8979877" y="1088991"/>
            <a:ext cx="870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CE3C3-A7BE-E3DF-F8E1-05841B01D7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110" y="1661007"/>
            <a:ext cx="4998890" cy="22533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1749ED-3694-157B-FCA5-27A99F88CA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259" y="4137788"/>
            <a:ext cx="4625741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09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E38C-B9D3-D228-D205-0C605016D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22F367-2A78-6981-2202-E8787F179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348" y="571500"/>
            <a:ext cx="9236989" cy="615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98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A12BA-953F-0DB7-165C-48C4A8E51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07571-3ACB-3DB5-725F-2EF5D55B1221}"/>
              </a:ext>
            </a:extLst>
          </p:cNvPr>
          <p:cNvSpPr txBox="1"/>
          <p:nvPr/>
        </p:nvSpPr>
        <p:spPr>
          <a:xfrm>
            <a:off x="4322047" y="867927"/>
            <a:ext cx="45770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Insight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F827E-CD91-5840-761F-17952BFED5C2}"/>
              </a:ext>
            </a:extLst>
          </p:cNvPr>
          <p:cNvSpPr txBox="1"/>
          <p:nvPr/>
        </p:nvSpPr>
        <p:spPr>
          <a:xfrm>
            <a:off x="1191986" y="2106854"/>
            <a:ext cx="107605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São Paulo dominates  — SP state has 42% of all customers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Health &amp; Beauty is top category — Rs1.25M in total sales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Half of customers pay in installments — 49.42% use installment plans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Massive growth in 2017  — Business grew 12,745% compared to 2016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Low retention rate — Most customers purchase only once, suggesting need for  loyalty programs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Seasonal peaks  — November 2017 had highest monthly sales (Rs863K) likely due to Black Friday</a:t>
            </a:r>
          </a:p>
        </p:txBody>
      </p:sp>
    </p:spTree>
    <p:extLst>
      <p:ext uri="{BB962C8B-B14F-4D97-AF65-F5344CB8AC3E}">
        <p14:creationId xmlns:p14="http://schemas.microsoft.com/office/powerpoint/2010/main" val="590063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4A01-5CA3-D5D2-AAC0-217F10930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901FD5-A77B-F126-73E3-E52584399A08}"/>
              </a:ext>
            </a:extLst>
          </p:cNvPr>
          <p:cNvSpPr txBox="1"/>
          <p:nvPr/>
        </p:nvSpPr>
        <p:spPr>
          <a:xfrm>
            <a:off x="4787202" y="2739955"/>
            <a:ext cx="2617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286368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{C37D759B-109A-4BB0-AA6D-951B2244AB88}TF8a9b5915-b8c7-461e-8cdd-693d48b5e32371f7b7e2_win32-4bf0b9a2ea37</Template>
  <TotalTime>362</TotalTime>
  <Words>637</Words>
  <Application>Microsoft Office PowerPoint</Application>
  <PresentationFormat>Widescreen</PresentationFormat>
  <Paragraphs>86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Black</vt:lpstr>
      <vt:lpstr>Calibri</vt:lpstr>
      <vt:lpstr>Sabon Next LT</vt:lpstr>
      <vt:lpstr>Times New Roman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SHREYASH KALE</dc:creator>
  <cp:lastModifiedBy>SHREYASH KALE</cp:lastModifiedBy>
  <cp:revision>13</cp:revision>
  <dcterms:created xsi:type="dcterms:W3CDTF">2026-05-08T03:33:49Z</dcterms:created>
  <dcterms:modified xsi:type="dcterms:W3CDTF">2026-05-18T08:42:22Z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