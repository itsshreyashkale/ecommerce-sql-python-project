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30"/>
  </p:notesMasterIdLst>
  <p:handoutMasterIdLst>
    <p:handoutMasterId r:id="rId31"/>
  </p:handoutMasterIdLst>
  <p:sldIdLst>
    <p:sldId id="321" r:id="rId5"/>
    <p:sldId id="322" r:id="rId6"/>
    <p:sldId id="329" r:id="rId7"/>
    <p:sldId id="336" r:id="rId8"/>
    <p:sldId id="337" r:id="rId9"/>
    <p:sldId id="338" r:id="rId10"/>
    <p:sldId id="339" r:id="rId11"/>
    <p:sldId id="340" r:id="rId12"/>
    <p:sldId id="330" r:id="rId13"/>
    <p:sldId id="334" r:id="rId14"/>
    <p:sldId id="341" r:id="rId15"/>
    <p:sldId id="342" r:id="rId16"/>
    <p:sldId id="343" r:id="rId17"/>
    <p:sldId id="344" r:id="rId18"/>
    <p:sldId id="345" r:id="rId19"/>
    <p:sldId id="325" r:id="rId20"/>
    <p:sldId id="335" r:id="rId21"/>
    <p:sldId id="346" r:id="rId22"/>
    <p:sldId id="347" r:id="rId23"/>
    <p:sldId id="348" r:id="rId24"/>
    <p:sldId id="350" r:id="rId25"/>
    <p:sldId id="349" r:id="rId26"/>
    <p:sldId id="324" r:id="rId27"/>
    <p:sldId id="331" r:id="rId28"/>
    <p:sldId id="332" r:id="rId29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88" autoAdjust="0"/>
  </p:normalViewPr>
  <p:slideViewPr>
    <p:cSldViewPr snapToGrid="0" snapToObjects="1">
      <p:cViewPr>
        <p:scale>
          <a:sx n="50" d="100"/>
          <a:sy n="50" d="100"/>
        </p:scale>
        <p:origin x="-48" y="816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C29A-ECE9-644F-AB7B-8F0A69F8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D9C-BE4A-0756-CEA9-20DAF2489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59F03-D1C0-67D7-E428-40C0DADFA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714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AA2D-3C79-C843-30B3-C9CA3394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2ADC-5DCC-A6BF-867C-E4BC1BD8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5E944-3D49-1136-4404-3AD58F23C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84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38F4-B3B1-03CB-4D6F-EDA45FE8A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2BB82-0BD1-A757-EDD1-22ED355DB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B2399-0308-30AA-8682-9650283BD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011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2923-6544-EDE4-AC0D-F0F24595A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5C1BE-A29B-9AFE-FD89-B70CADC26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2F0E3-F979-5A98-A47C-4A76C7C78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05F7-25F9-3307-5016-4FC07704D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EAC9FD-A1FB-140D-68E9-A139F9071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F77BB-917B-BEFF-8035-7CFE17401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857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9EDB1-552E-F7D5-F440-C58C3B45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D5BB7-DA2F-132A-5A62-42B53DBA2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60913-FBA1-B33E-15E0-1746B3F66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617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C26C-7911-F5B0-1137-377E732BB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770DD-C1C6-41A5-DCBE-EAB04C78C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48FD5-7F6E-79C1-A57A-A87F56F20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282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61D0F-28E5-30C0-9AD3-68DF1FB07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59589-3304-ACAC-E7D8-E3673DC0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8AB36-A143-9E47-E2AE-2BDE19D23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0222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9A31-8F39-A628-DE56-E34C2AA8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F9ADD-8F5A-2986-F7C1-146B368C1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A6E9A-D372-3C09-56B3-60FBB185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324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5E56-2D87-F260-8BA5-EFB66C085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AD806-AA6D-261C-64EE-1CEC509D8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91440-E4A3-767B-B9B9-12AAB3D9A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9049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300BC-EBAE-8B3A-2295-EFD94328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D48BC-11D5-22F2-A841-162328F7B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09EFE-B1F9-8360-489F-95E83CF46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5661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FD3B-594F-4764-A76A-D6982519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DA1A2-9EA0-3C38-E213-EEFCC6A0B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49918-3B6E-97F9-AB88-DFC9F8BB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925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9347-A351-F333-5E9F-630D19D1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A0A14-FA56-13F2-ACB3-4E94B7B25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8F342-01B1-1172-E953-04A3ADD36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115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4BC5C-5E34-6EE4-8055-ED9301B6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D1E22-D02D-1069-B5AD-F3016F3FB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A1B62-DA9B-145A-C989-AD2B2899C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383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76333-4049-F375-3119-368276C3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2EC9B-585D-9129-B7C3-7B7554817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300F3-03D8-DBA0-3352-660C5751C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2244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CFA56-CAA2-E817-6BA4-ECCD63A7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4845B-2E6C-07FB-E4CD-70EC2BB3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B01CF-9538-8D5E-02E6-F374313E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495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5D2D-649E-49B4-0338-0948DACA6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6AAE0-8FF1-73BF-D513-5D09A530F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416A2-7F3F-8B26-83A5-A12F97A3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929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B796-7057-80CA-9AD7-B5B546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ED57-9FE6-19C4-1E81-50E588294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96366-D525-951E-1CA3-FE0FE23D4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459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5024-2BC5-4F43-F715-22CD74B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F7709-CE58-2835-9AC2-1F6923CA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9D0EC-D030-3C1D-0D16-BDA587CF2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0675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BA20-7670-9586-8CD8-D589F4B6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5569-BE51-7905-C167-928C10B5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E0214-9CB6-B041-0383-5F91DD50B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3257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2C7D1-2726-832D-8761-6AC07DBA2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7C00D-9E00-3381-4F65-3B5210AA6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111274-86C0-970F-A8FD-256D94815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5770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8614-F6A3-887B-B575-95B279830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B5C3D-89AB-5837-022B-3DCD2A410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9167C-A0A6-17CA-5207-7F124CA25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0962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71C8-E5C1-7F36-4EC6-1B5807ED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475E5-4B07-4130-2D64-6667FCA79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BA8BC-B9F5-C63E-0C0F-6999EB18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2276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0A5-A3C3-458F-44A1-DE48DA852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6337-9A62-B61B-6A29-81CD33AB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40ED9-DBD4-E083-92A4-3B5504DA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4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6BE26F-E071-4777-979A-DBB0F0DC0774}"/>
              </a:ext>
            </a:extLst>
          </p:cNvPr>
          <p:cNvSpPr txBox="1"/>
          <p:nvPr/>
        </p:nvSpPr>
        <p:spPr>
          <a:xfrm>
            <a:off x="1814628" y="1168510"/>
            <a:ext cx="9117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Navigating The Future of Online Shopping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1845F-58E3-026D-20E7-F44A28A724CC}"/>
              </a:ext>
            </a:extLst>
          </p:cNvPr>
          <p:cNvSpPr txBox="1"/>
          <p:nvPr/>
        </p:nvSpPr>
        <p:spPr>
          <a:xfrm>
            <a:off x="2746612" y="2442583"/>
            <a:ext cx="72536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Ecommerce Analysis Using Python and 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876B5-A1EB-39C6-582D-2B9193628E87}"/>
              </a:ext>
            </a:extLst>
          </p:cNvPr>
          <p:cNvSpPr txBox="1"/>
          <p:nvPr/>
        </p:nvSpPr>
        <p:spPr>
          <a:xfrm>
            <a:off x="5008748" y="6262075"/>
            <a:ext cx="1916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Shreyash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B3C2D-FB00-E395-7AB2-2206DDD18691}"/>
              </a:ext>
            </a:extLst>
          </p:cNvPr>
          <p:cNvSpPr txBox="1"/>
          <p:nvPr/>
        </p:nvSpPr>
        <p:spPr>
          <a:xfrm>
            <a:off x="2646484" y="3531990"/>
            <a:ext cx="80889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(MySQL) – Data Extraction, Querying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(Pandas, Matplotlib) – Data Analysis,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Implementation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– Data Cleaning &gt; Analysis &gt; Visualization &gt; Insights</a:t>
            </a:r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644A-3D01-1EE0-C7B1-58F7168F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38D17-A58E-6FB0-A97B-0950CFA865E8}"/>
              </a:ext>
            </a:extLst>
          </p:cNvPr>
          <p:cNvSpPr txBox="1"/>
          <p:nvPr/>
        </p:nvSpPr>
        <p:spPr>
          <a:xfrm>
            <a:off x="4218842" y="879231"/>
            <a:ext cx="37543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AC91-2A37-A349-5005-758888C60700}"/>
              </a:ext>
            </a:extLst>
          </p:cNvPr>
          <p:cNvSpPr txBox="1"/>
          <p:nvPr/>
        </p:nvSpPr>
        <p:spPr>
          <a:xfrm>
            <a:off x="1503485" y="2664069"/>
            <a:ext cx="100759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dataset captures transactional data from a multi-category e-commerce platform that connects customers and sellers across diverse regions. The platform supports a broad product catalog and flexible payment options, including installment plans.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competition in the e-commerce landscape intensifies, analyzing customer behavior, sales performance, and seller contributions becomes essential for driving sustainable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307520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EBEF3-36C2-029D-9AE5-CD3778EB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1188A8-6B3F-F2E0-EA44-795348B40D7D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4118D-C074-468D-1B7C-5C9CAA441CBE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Extract fundamental insights from the dataset.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22193-3B34-9602-6728-8BE2F08CA34B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cities where customers are located – 4119 cities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orders placed in 2017 – 45,101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sales per category – health &amp; Beauty  Rs 1.25m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Percentage of orders paid in installments – 51.46%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customers from each state – SP leads with 41,746</a:t>
            </a:r>
          </a:p>
        </p:txBody>
      </p:sp>
    </p:spTree>
    <p:extLst>
      <p:ext uri="{BB962C8B-B14F-4D97-AF65-F5344CB8AC3E}">
        <p14:creationId xmlns:p14="http://schemas.microsoft.com/office/powerpoint/2010/main" val="306688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A88B-1CF4-4489-42D1-7A6063A9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A4825E-C8EF-A40C-8B59-4BB5C0291F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4978" y="1972400"/>
            <a:ext cx="5082980" cy="103163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4ADDBAB-59A5-533B-BEF6-FB28AF89C65B}"/>
              </a:ext>
            </a:extLst>
          </p:cNvPr>
          <p:cNvSpPr txBox="1"/>
          <p:nvPr/>
        </p:nvSpPr>
        <p:spPr>
          <a:xfrm>
            <a:off x="2934117" y="432182"/>
            <a:ext cx="75651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Q1. LIST ALL UNIQUE CITIES WHERE CUSTOMERS ARE LOCATED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979C65-DD6F-2612-8BE0-27C332D74B19}"/>
              </a:ext>
            </a:extLst>
          </p:cNvPr>
          <p:cNvSpPr txBox="1"/>
          <p:nvPr/>
        </p:nvSpPr>
        <p:spPr>
          <a:xfrm>
            <a:off x="2830600" y="144895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99E773-8F8B-639C-2965-88AD60430335}"/>
              </a:ext>
            </a:extLst>
          </p:cNvPr>
          <p:cNvSpPr txBox="1"/>
          <p:nvPr/>
        </p:nvSpPr>
        <p:spPr>
          <a:xfrm>
            <a:off x="9005522" y="1448953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210E5E-D5B3-B11C-0624-2B52F365CB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4978" y="4174926"/>
            <a:ext cx="5082979" cy="17679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19B53B2-9CFF-14B6-7DE3-43656ECF64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9409" y="4249990"/>
            <a:ext cx="5342083" cy="16929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5A6D326-65C4-BB6D-994D-C4C5AC1F0A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410" y="1975834"/>
            <a:ext cx="5248928" cy="10316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0A2C45-5855-1453-4252-8F4BF1DF45F6}"/>
              </a:ext>
            </a:extLst>
          </p:cNvPr>
          <p:cNvSpPr txBox="1"/>
          <p:nvPr/>
        </p:nvSpPr>
        <p:spPr>
          <a:xfrm>
            <a:off x="2468124" y="32751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AC449-BAAE-19C0-BC1D-E02F6E4B1A80}"/>
              </a:ext>
            </a:extLst>
          </p:cNvPr>
          <p:cNvSpPr txBox="1"/>
          <p:nvPr/>
        </p:nvSpPr>
        <p:spPr>
          <a:xfrm>
            <a:off x="8759546" y="321970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1187190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BD4D-E882-C80C-45AB-0F9DE83E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5D65AFC-F83A-E9A2-EA4B-D698866CCF8B}"/>
              </a:ext>
            </a:extLst>
          </p:cNvPr>
          <p:cNvSpPr txBox="1"/>
          <p:nvPr/>
        </p:nvSpPr>
        <p:spPr>
          <a:xfrm>
            <a:off x="3543299" y="457501"/>
            <a:ext cx="6531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Q2. COUNT THE NUMBER OF ORDERS PLACED IN 2017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710E8-E5F1-ECD1-8EEC-054349662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67" y="2131646"/>
            <a:ext cx="4825717" cy="142004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C119392-1C59-4BA1-8EBF-55EEE0DD3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221" y="4484381"/>
            <a:ext cx="4792414" cy="14200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C103D1-994E-CB71-E77E-81043A34B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918" y="2066332"/>
            <a:ext cx="4825717" cy="14853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71B109-E2D5-CFA6-7C36-759CD73F9F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9267" y="4484381"/>
            <a:ext cx="4825717" cy="14200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2C1077-C044-CED0-2E9D-B6A878D5C6C2}"/>
              </a:ext>
            </a:extLst>
          </p:cNvPr>
          <p:cNvSpPr txBox="1"/>
          <p:nvPr/>
        </p:nvSpPr>
        <p:spPr>
          <a:xfrm>
            <a:off x="2679737" y="141913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F15BAE-F942-8A07-4FA1-5FC822DC1478}"/>
              </a:ext>
            </a:extLst>
          </p:cNvPr>
          <p:cNvSpPr txBox="1"/>
          <p:nvPr/>
        </p:nvSpPr>
        <p:spPr>
          <a:xfrm>
            <a:off x="8951299" y="1330557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907EF2-C91F-63CB-9E75-121701729D7E}"/>
              </a:ext>
            </a:extLst>
          </p:cNvPr>
          <p:cNvSpPr txBox="1"/>
          <p:nvPr/>
        </p:nvSpPr>
        <p:spPr>
          <a:xfrm>
            <a:off x="2879893" y="38891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665776-8A23-6106-4239-98691F97ADE2}"/>
              </a:ext>
            </a:extLst>
          </p:cNvPr>
          <p:cNvSpPr txBox="1"/>
          <p:nvPr/>
        </p:nvSpPr>
        <p:spPr>
          <a:xfrm>
            <a:off x="8705322" y="388917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1417358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33BED-CE9E-D0ED-7C88-68FDF10A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890DBD-85C6-D403-2692-DFFE059D3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045" y="1051331"/>
            <a:ext cx="5579655" cy="31336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EB9F6C-3979-3246-1647-3779CDFF10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32" y="4514586"/>
            <a:ext cx="5579655" cy="2148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E5BD42F-375E-2C5C-D1B9-230C6AB00B2C}"/>
              </a:ext>
            </a:extLst>
          </p:cNvPr>
          <p:cNvSpPr txBox="1"/>
          <p:nvPr/>
        </p:nvSpPr>
        <p:spPr>
          <a:xfrm>
            <a:off x="3917206" y="40812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Q3. FIND THE TOTAL SALES PER CATEGORY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06CCF1-46AF-F55F-E3E2-DAE22A7C11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732" y="1051331"/>
            <a:ext cx="5579655" cy="31336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D39D73-34E6-F630-0CA4-2C2723C2F6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044" y="4489499"/>
            <a:ext cx="5579655" cy="21731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499279-87A3-BAB2-00BA-6F166601D028}"/>
              </a:ext>
            </a:extLst>
          </p:cNvPr>
          <p:cNvSpPr txBox="1"/>
          <p:nvPr/>
        </p:nvSpPr>
        <p:spPr>
          <a:xfrm>
            <a:off x="2681131" y="71303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11EB2-51C8-7AA7-AD90-C8D6094C9677}"/>
              </a:ext>
            </a:extLst>
          </p:cNvPr>
          <p:cNvSpPr txBox="1"/>
          <p:nvPr/>
        </p:nvSpPr>
        <p:spPr>
          <a:xfrm>
            <a:off x="9005523" y="743554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B231C8-EB56-346E-DD6C-428BE3B44BCD}"/>
              </a:ext>
            </a:extLst>
          </p:cNvPr>
          <p:cNvSpPr txBox="1"/>
          <p:nvPr/>
        </p:nvSpPr>
        <p:spPr>
          <a:xfrm>
            <a:off x="2681131" y="418172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639ABC-8850-850D-12C2-58242E588173}"/>
              </a:ext>
            </a:extLst>
          </p:cNvPr>
          <p:cNvSpPr txBox="1"/>
          <p:nvPr/>
        </p:nvSpPr>
        <p:spPr>
          <a:xfrm>
            <a:off x="8632291" y="414406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2736174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9B1-14A1-8C42-39C7-C2E83FC5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7DEEAC-1C58-A01D-4BA9-87159C5255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399" y="1549054"/>
            <a:ext cx="5311600" cy="23993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3CD35E-95F9-0F78-6113-872E0A0C0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2" y="1549053"/>
            <a:ext cx="5311600" cy="23993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707B15-5572-618F-3510-59C68B809E12}"/>
              </a:ext>
            </a:extLst>
          </p:cNvPr>
          <p:cNvSpPr txBox="1"/>
          <p:nvPr/>
        </p:nvSpPr>
        <p:spPr>
          <a:xfrm>
            <a:off x="2058176" y="483987"/>
            <a:ext cx="9535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Q4. CALCULATE THE PERCENTAGE OF ORDERS THAT WERE PAID IN INSTALLMENTS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B61CB8-6DA1-4D6C-5F21-F2732CEB77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723" y="4709181"/>
            <a:ext cx="5311600" cy="11515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35B484-EFA0-27D1-3373-2AB58FA26B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1399" y="4709181"/>
            <a:ext cx="5311600" cy="11515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5D4C7E-56E0-AFB7-EFDA-A1B338100BDE}"/>
              </a:ext>
            </a:extLst>
          </p:cNvPr>
          <p:cNvSpPr txBox="1"/>
          <p:nvPr/>
        </p:nvSpPr>
        <p:spPr>
          <a:xfrm>
            <a:off x="2830600" y="9972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E18AD-B426-6A9A-7F1B-C1C9CD8D5517}"/>
              </a:ext>
            </a:extLst>
          </p:cNvPr>
          <p:cNvSpPr txBox="1"/>
          <p:nvPr/>
        </p:nvSpPr>
        <p:spPr>
          <a:xfrm>
            <a:off x="8840455" y="997246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B3117-6290-EEC3-7C92-E511C3F62509}"/>
              </a:ext>
            </a:extLst>
          </p:cNvPr>
          <p:cNvSpPr txBox="1"/>
          <p:nvPr/>
        </p:nvSpPr>
        <p:spPr>
          <a:xfrm>
            <a:off x="2468124" y="41797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2FC5A1-FD1A-A957-E685-6221D7FDAEF3}"/>
              </a:ext>
            </a:extLst>
          </p:cNvPr>
          <p:cNvSpPr txBox="1"/>
          <p:nvPr/>
        </p:nvSpPr>
        <p:spPr>
          <a:xfrm>
            <a:off x="8594478" y="415510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2390428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C61F-5E03-4858-9E3B-A73F0AE7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F212BC-D2C3-FB78-8099-80E85D6D8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639" y="1583716"/>
            <a:ext cx="4740050" cy="15992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61BE22-E23D-6CF9-C348-84DF96F42A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358" y="1583716"/>
            <a:ext cx="4740051" cy="15992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9E9DC0-BF23-173E-1597-155DDE2DDE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0358" y="3915126"/>
            <a:ext cx="4740051" cy="25003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0B557-E6A7-47FB-EB53-6B48B5A5C25B}"/>
              </a:ext>
            </a:extLst>
          </p:cNvPr>
          <p:cNvSpPr txBox="1"/>
          <p:nvPr/>
        </p:nvSpPr>
        <p:spPr>
          <a:xfrm>
            <a:off x="2580542" y="604158"/>
            <a:ext cx="7299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Q5. COUNT THE NUMBER OF CUSTOMERS FROM EACH STATE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31B672-0E3B-C05F-73FD-6D0C9A13A3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639" y="3915125"/>
            <a:ext cx="4740050" cy="25003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CD4681-52C4-2154-A73B-789586C36A20}"/>
              </a:ext>
            </a:extLst>
          </p:cNvPr>
          <p:cNvSpPr txBox="1"/>
          <p:nvPr/>
        </p:nvSpPr>
        <p:spPr>
          <a:xfrm>
            <a:off x="2716300" y="115621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0420E1-909A-0718-6C5C-2FB5DD62FF9B}"/>
              </a:ext>
            </a:extLst>
          </p:cNvPr>
          <p:cNvSpPr txBox="1"/>
          <p:nvPr/>
        </p:nvSpPr>
        <p:spPr>
          <a:xfrm>
            <a:off x="9174434" y="114747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AE3CA5-2F58-AEDE-0A71-B2CEDE526F5B}"/>
              </a:ext>
            </a:extLst>
          </p:cNvPr>
          <p:cNvSpPr txBox="1"/>
          <p:nvPr/>
        </p:nvSpPr>
        <p:spPr>
          <a:xfrm>
            <a:off x="2495969" y="342462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7E687-4862-55C0-75A9-238DBF0B808E}"/>
              </a:ext>
            </a:extLst>
          </p:cNvPr>
          <p:cNvSpPr txBox="1"/>
          <p:nvPr/>
        </p:nvSpPr>
        <p:spPr>
          <a:xfrm>
            <a:off x="8759546" y="343991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2991259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B2B9-CE3E-E614-295D-38D431FAF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F6FB09-2261-C4D8-AB47-9DF34FBEB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765" y="767442"/>
            <a:ext cx="9242211" cy="576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577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484D-4CDB-B063-E7D8-B18E19DA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D7104-06BE-69BA-4EFF-210279037BD3}"/>
              </a:ext>
            </a:extLst>
          </p:cNvPr>
          <p:cNvSpPr txBox="1"/>
          <p:nvPr/>
        </p:nvSpPr>
        <p:spPr>
          <a:xfrm>
            <a:off x="4322047" y="867927"/>
            <a:ext cx="49035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Intermediate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DB901-87FB-7D35-062E-0E69CBC6C3CF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Dive deeper into sales and order trends.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4696E-DAFD-31D2-6BAC-71F56832824A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per month in 2018 – January peak 7269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Avg products per order by city – Padre Carvalho, 7 products/orders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% by product category – Health &amp; Beauty 9.26%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vs purchase frequency – Most purchased products, 527 times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by seller ranked – Top seller, Rs 2,29,472</a:t>
            </a:r>
          </a:p>
        </p:txBody>
      </p:sp>
    </p:spTree>
    <p:extLst>
      <p:ext uri="{BB962C8B-B14F-4D97-AF65-F5344CB8AC3E}">
        <p14:creationId xmlns:p14="http://schemas.microsoft.com/office/powerpoint/2010/main" val="2008065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09730-7E90-9CB8-DE1E-8B6D505B4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267D81-D8F2-4774-A4CA-D38481930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4690" y="1388266"/>
            <a:ext cx="5311599" cy="232649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A0849B-87AB-2C5F-E56D-9485EA7225CD}"/>
              </a:ext>
            </a:extLst>
          </p:cNvPr>
          <p:cNvSpPr txBox="1"/>
          <p:nvPr/>
        </p:nvSpPr>
        <p:spPr>
          <a:xfrm>
            <a:off x="3015762" y="581251"/>
            <a:ext cx="7255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Q6. CALCULATE THE NUMBER OF ORDERS PER MONTH IN 2018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6FDFE5-D368-AC10-4136-41C8AC05F0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54" y="1377256"/>
            <a:ext cx="5311600" cy="23485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8A943C-695A-82E8-3275-55F36958F42D}"/>
              </a:ext>
            </a:extLst>
          </p:cNvPr>
          <p:cNvSpPr txBox="1"/>
          <p:nvPr/>
        </p:nvSpPr>
        <p:spPr>
          <a:xfrm>
            <a:off x="2830600" y="108049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4477A-BEBA-6B51-1861-0C74FCDDF999}"/>
              </a:ext>
            </a:extLst>
          </p:cNvPr>
          <p:cNvSpPr txBox="1"/>
          <p:nvPr/>
        </p:nvSpPr>
        <p:spPr>
          <a:xfrm>
            <a:off x="9005522" y="1080489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41725-8D23-6F36-ACAB-29D4813FC4DE}"/>
              </a:ext>
            </a:extLst>
          </p:cNvPr>
          <p:cNvSpPr txBox="1"/>
          <p:nvPr/>
        </p:nvSpPr>
        <p:spPr>
          <a:xfrm>
            <a:off x="2468124" y="389250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9E325C-69AF-263B-1DE0-66BDDC518A3F}"/>
              </a:ext>
            </a:extLst>
          </p:cNvPr>
          <p:cNvSpPr txBox="1"/>
          <p:nvPr/>
        </p:nvSpPr>
        <p:spPr>
          <a:xfrm>
            <a:off x="9005522" y="389250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3ABA35F-6DCC-9856-1517-9FF514696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761" y="4269084"/>
            <a:ext cx="5222528" cy="224838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102DCD-FF54-B250-AF06-E19D470207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54" y="4273040"/>
            <a:ext cx="5304882" cy="22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482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534-12BB-F76D-95F9-CB1B64A1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5268635-70A8-ADEF-3C33-21E0F2308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741" y="1272758"/>
            <a:ext cx="5616427" cy="27387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F707DF-437B-F726-6598-CA8CD261C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740" y="4392960"/>
            <a:ext cx="5616427" cy="24650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6FE268-BC05-B4E3-791C-226D69D473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525" y="4392960"/>
            <a:ext cx="5666218" cy="246504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3A410A-50C8-A33D-ED30-B0924D52D6E2}"/>
              </a:ext>
            </a:extLst>
          </p:cNvPr>
          <p:cNvSpPr txBox="1"/>
          <p:nvPr/>
        </p:nvSpPr>
        <p:spPr>
          <a:xfrm>
            <a:off x="2030760" y="552712"/>
            <a:ext cx="10161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 Q7. FIND THE AVERAGE NUMBER OF PRODUCTS PER ORDER, GROUPED BY CUSTOMER CITY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9DEBA5-4BA0-CF8B-5178-6966536FF5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525" y="1255999"/>
            <a:ext cx="5616427" cy="27387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5FAD23-3BDA-7206-9460-D0B5320061A8}"/>
              </a:ext>
            </a:extLst>
          </p:cNvPr>
          <p:cNvSpPr txBox="1"/>
          <p:nvPr/>
        </p:nvSpPr>
        <p:spPr>
          <a:xfrm>
            <a:off x="2716300" y="89126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0222C3-4F17-A19C-934C-466A29DF874A}"/>
              </a:ext>
            </a:extLst>
          </p:cNvPr>
          <p:cNvSpPr txBox="1"/>
          <p:nvPr/>
        </p:nvSpPr>
        <p:spPr>
          <a:xfrm>
            <a:off x="8786767" y="869715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0E105-A5D6-F42C-0278-47F5647EC658}"/>
              </a:ext>
            </a:extLst>
          </p:cNvPr>
          <p:cNvSpPr txBox="1"/>
          <p:nvPr/>
        </p:nvSpPr>
        <p:spPr>
          <a:xfrm>
            <a:off x="2468123" y="401146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1D7AC0-6AFE-B405-9BD0-3A9E750A8C32}"/>
              </a:ext>
            </a:extLst>
          </p:cNvPr>
          <p:cNvSpPr txBox="1"/>
          <p:nvPr/>
        </p:nvSpPr>
        <p:spPr>
          <a:xfrm>
            <a:off x="8320661" y="404929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19441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A024-EF88-6CBC-7F23-F5654EB6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46D334-8BF4-92BB-6B93-2EDFA21FC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772" y="956702"/>
            <a:ext cx="5476429" cy="34349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D7E51CA-88C6-39B7-8D50-6C6BD79982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10" y="4699393"/>
            <a:ext cx="5532598" cy="202227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36ECD71-9338-4797-527D-272D2709B8DA}"/>
              </a:ext>
            </a:extLst>
          </p:cNvPr>
          <p:cNvSpPr txBox="1"/>
          <p:nvPr/>
        </p:nvSpPr>
        <p:spPr>
          <a:xfrm>
            <a:off x="2173887" y="447424"/>
            <a:ext cx="91877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Q8. CALCULATE THE PERCENTAGE OF TOTAL REVENUE CONTRIBUTED BY EACH  PRODUCT CATEGORY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8EA07F-3F3D-B6C7-0B01-A9D6721AD9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10" y="956702"/>
            <a:ext cx="5532599" cy="34820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A858C29-C08C-60FB-8D6B-3BCC724A8437}"/>
              </a:ext>
            </a:extLst>
          </p:cNvPr>
          <p:cNvSpPr txBox="1"/>
          <p:nvPr/>
        </p:nvSpPr>
        <p:spPr>
          <a:xfrm>
            <a:off x="1074927" y="64892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3D9540-9FA8-7FB7-F719-9F2C87920761}"/>
              </a:ext>
            </a:extLst>
          </p:cNvPr>
          <p:cNvSpPr txBox="1"/>
          <p:nvPr/>
        </p:nvSpPr>
        <p:spPr>
          <a:xfrm>
            <a:off x="9554835" y="648926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1A70D-CEAF-949A-A25E-490C4041F696}"/>
              </a:ext>
            </a:extLst>
          </p:cNvPr>
          <p:cNvSpPr txBox="1"/>
          <p:nvPr/>
        </p:nvSpPr>
        <p:spPr>
          <a:xfrm>
            <a:off x="1841849" y="439161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6D786-2F05-A1C2-C863-9F0E7BE1FE8B}"/>
              </a:ext>
            </a:extLst>
          </p:cNvPr>
          <p:cNvSpPr txBox="1"/>
          <p:nvPr/>
        </p:nvSpPr>
        <p:spPr>
          <a:xfrm>
            <a:off x="8078963" y="437580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39F3DE-C23B-9FAA-1900-D8AE87C51F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465" y="4699393"/>
            <a:ext cx="5447736" cy="202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212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DC9F-34B2-D465-F5C0-2A93202B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42B7FE4-DF89-3F53-C770-EDC2472E9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245" y="1334319"/>
            <a:ext cx="5616427" cy="28707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F60C62-5075-C643-BD72-5B6E7E084428}"/>
              </a:ext>
            </a:extLst>
          </p:cNvPr>
          <p:cNvSpPr txBox="1"/>
          <p:nvPr/>
        </p:nvSpPr>
        <p:spPr>
          <a:xfrm>
            <a:off x="1028700" y="634831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Q9. IDENTIFY THE CORRELATION BETWEEN PRODUCT PRICE AND THE NUMBER OF TIMES A PRODUCT HAS BEEN PURCHASED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7EA78-AD2C-E743-09F1-4E3F95927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6" y="1334319"/>
            <a:ext cx="5616427" cy="28707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0288AF-CE41-42EA-2F48-4032AAE757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876" y="5295347"/>
            <a:ext cx="5616427" cy="7023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4663E1-CB28-4A39-9362-8A7C47E15FB7}"/>
              </a:ext>
            </a:extLst>
          </p:cNvPr>
          <p:cNvSpPr txBox="1"/>
          <p:nvPr/>
        </p:nvSpPr>
        <p:spPr>
          <a:xfrm>
            <a:off x="2786722" y="9845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F168D-EE74-1FB8-644F-77A476DD3CD9}"/>
              </a:ext>
            </a:extLst>
          </p:cNvPr>
          <p:cNvSpPr txBox="1"/>
          <p:nvPr/>
        </p:nvSpPr>
        <p:spPr>
          <a:xfrm>
            <a:off x="8759546" y="94260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771435-713E-885A-8AF1-56C645AD1FFF}"/>
              </a:ext>
            </a:extLst>
          </p:cNvPr>
          <p:cNvSpPr txBox="1"/>
          <p:nvPr/>
        </p:nvSpPr>
        <p:spPr>
          <a:xfrm>
            <a:off x="2468124" y="435932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3F9BD-E9BC-DEF5-8045-1DB56E790D44}"/>
              </a:ext>
            </a:extLst>
          </p:cNvPr>
          <p:cNvSpPr txBox="1"/>
          <p:nvPr/>
        </p:nvSpPr>
        <p:spPr>
          <a:xfrm>
            <a:off x="8716347" y="435932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C11D2D-A200-53C0-BFFB-82C47C8FD2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5244" y="5295346"/>
            <a:ext cx="5616427" cy="702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837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1E7A3-85C2-1C55-A6B5-71C96F37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A4AFCF-F7B9-E16C-BAD7-5585A4E4A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297" y="1225312"/>
            <a:ext cx="5230586" cy="26510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7C485E-9220-6203-16E9-A04475596D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53" y="4196585"/>
            <a:ext cx="5230586" cy="216108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00C5A67-35BC-1D7A-E5DC-CC2DF2D880CA}"/>
              </a:ext>
            </a:extLst>
          </p:cNvPr>
          <p:cNvSpPr txBox="1"/>
          <p:nvPr/>
        </p:nvSpPr>
        <p:spPr>
          <a:xfrm>
            <a:off x="1758718" y="500331"/>
            <a:ext cx="108741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Q10. CALCULATE THE TOTAL REVENUE GENERATED BY EACH SELLER, AND RANK THEM BY REVENUE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027FEA-259F-34CE-3D65-DD09CDEEE8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753" y="1226819"/>
            <a:ext cx="5230586" cy="26510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D4FACC-6B07-037F-42D1-7DEFCC9A4041}"/>
              </a:ext>
            </a:extLst>
          </p:cNvPr>
          <p:cNvSpPr txBox="1"/>
          <p:nvPr/>
        </p:nvSpPr>
        <p:spPr>
          <a:xfrm>
            <a:off x="2063678" y="8664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4106CD-DEA9-F682-8F35-07624EFA69B1}"/>
              </a:ext>
            </a:extLst>
          </p:cNvPr>
          <p:cNvSpPr txBox="1"/>
          <p:nvPr/>
        </p:nvSpPr>
        <p:spPr>
          <a:xfrm>
            <a:off x="8972744" y="834131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4BEC4C-6181-DC5A-B9EE-3C156B2C9428}"/>
              </a:ext>
            </a:extLst>
          </p:cNvPr>
          <p:cNvSpPr txBox="1"/>
          <p:nvPr/>
        </p:nvSpPr>
        <p:spPr>
          <a:xfrm>
            <a:off x="2473881" y="387783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27A9F0-B983-48C7-173E-C2E9CB2B85E1}"/>
              </a:ext>
            </a:extLst>
          </p:cNvPr>
          <p:cNvSpPr txBox="1"/>
          <p:nvPr/>
        </p:nvSpPr>
        <p:spPr>
          <a:xfrm>
            <a:off x="8759546" y="388880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990731-FC18-CA44-E603-68DE29CADF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1457" y="4160583"/>
            <a:ext cx="5230790" cy="2197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9518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CF757-7344-D141-D4DC-D7F64FE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EBC85-A288-FEE1-719F-5258F9B0D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1033" y="685800"/>
            <a:ext cx="923698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3234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9DDD-7244-7399-2747-04B19A58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9EAF32-1DC8-C80A-78BF-2776138D2656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Advanced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3FC7B-0095-CB41-A8A1-C425A77751AD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Generate strategic and customer-centric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B563AC-EC4B-C15D-85D9-B4CBBEB908C0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average of order values – Tracks customer spending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Cumulative sales per month – 2018 hit, Rs 6.35 by August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 rate – 2017 grew 12,745% vs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retention rate – 0% most buy only once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3 customers per year – 2017 top spender, Rs 13,440</a:t>
            </a:r>
          </a:p>
        </p:txBody>
      </p:sp>
    </p:spTree>
    <p:extLst>
      <p:ext uri="{BB962C8B-B14F-4D97-AF65-F5344CB8AC3E}">
        <p14:creationId xmlns:p14="http://schemas.microsoft.com/office/powerpoint/2010/main" val="40777741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D5E6-12CD-16D6-DC4D-3659D03A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C16FA7-B4B0-BEB5-9ED9-E03E464B2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863" y="1021004"/>
            <a:ext cx="5578323" cy="29721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D6E2D63-98BB-E3E0-C6C7-24D23045499E}"/>
              </a:ext>
            </a:extLst>
          </p:cNvPr>
          <p:cNvSpPr txBox="1"/>
          <p:nvPr/>
        </p:nvSpPr>
        <p:spPr>
          <a:xfrm>
            <a:off x="1600201" y="509587"/>
            <a:ext cx="10591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Q11. CALCULATE THE  MOVING AVERAGE OF ORDER VALUES FOR EACH CUSTOMER OVER THEIR ORDER HISTORY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314704-863F-38CD-ECC5-384A74F791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675" y="1021004"/>
            <a:ext cx="5578323" cy="29721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B73486-1DAE-FEFA-7350-DB6AB6119F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676" y="4275467"/>
            <a:ext cx="5578323" cy="25002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8E9263-9225-1B01-32E7-64D43ED66FEB}"/>
              </a:ext>
            </a:extLst>
          </p:cNvPr>
          <p:cNvSpPr txBox="1"/>
          <p:nvPr/>
        </p:nvSpPr>
        <p:spPr>
          <a:xfrm>
            <a:off x="2468124" y="71322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F1AEA0-DAA2-EB5E-1087-D4B17034C589}"/>
              </a:ext>
            </a:extLst>
          </p:cNvPr>
          <p:cNvSpPr txBox="1"/>
          <p:nvPr/>
        </p:nvSpPr>
        <p:spPr>
          <a:xfrm>
            <a:off x="9005523" y="75124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6D4143-04A0-070E-F950-A4451C34ECAB}"/>
              </a:ext>
            </a:extLst>
          </p:cNvPr>
          <p:cNvSpPr txBox="1"/>
          <p:nvPr/>
        </p:nvSpPr>
        <p:spPr>
          <a:xfrm>
            <a:off x="2186238" y="399313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3D4684-4E48-7C81-AC1E-7B9F22239A00}"/>
              </a:ext>
            </a:extLst>
          </p:cNvPr>
          <p:cNvSpPr txBox="1"/>
          <p:nvPr/>
        </p:nvSpPr>
        <p:spPr>
          <a:xfrm>
            <a:off x="8513569" y="39551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505584-0DDD-CF08-44A6-722F74EECD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863" y="4275467"/>
            <a:ext cx="5578323" cy="246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62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35FA-3FAC-6223-1370-15D21399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CE1E9E-0D33-9A97-C63E-FDBA4A468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10" y="1115605"/>
            <a:ext cx="5798152" cy="28733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FA8BC4-F16A-175E-5BA6-C92DD4B86A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73" y="4456879"/>
            <a:ext cx="5655130" cy="230022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2FC41B-4AC8-479E-D4F0-C00514516A95}"/>
              </a:ext>
            </a:extLst>
          </p:cNvPr>
          <p:cNvSpPr txBox="1"/>
          <p:nvPr/>
        </p:nvSpPr>
        <p:spPr>
          <a:xfrm>
            <a:off x="2738175" y="496857"/>
            <a:ext cx="9067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Q12. CALCULATE THE CUMULATIVE SALES PER MONTH FOR  EACH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7B29A6-C54B-43CD-C2CF-82AAE7A20A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871" y="1134279"/>
            <a:ext cx="5655129" cy="28733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857C45-7AE0-0AD3-AF39-A39116CA4D34}"/>
              </a:ext>
            </a:extLst>
          </p:cNvPr>
          <p:cNvSpPr txBox="1"/>
          <p:nvPr/>
        </p:nvSpPr>
        <p:spPr>
          <a:xfrm>
            <a:off x="2229135" y="7649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5E558-9357-05FA-C195-2F8A1D73229C}"/>
              </a:ext>
            </a:extLst>
          </p:cNvPr>
          <p:cNvSpPr txBox="1"/>
          <p:nvPr/>
        </p:nvSpPr>
        <p:spPr>
          <a:xfrm>
            <a:off x="8652383" y="707819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9EC3F0-3A09-2CCA-DCBF-184A46C2F490}"/>
              </a:ext>
            </a:extLst>
          </p:cNvPr>
          <p:cNvSpPr txBox="1"/>
          <p:nvPr/>
        </p:nvSpPr>
        <p:spPr>
          <a:xfrm>
            <a:off x="8652383" y="403532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B17BBA-8BFD-FD73-683E-597165AAFAB5}"/>
              </a:ext>
            </a:extLst>
          </p:cNvPr>
          <p:cNvSpPr txBox="1"/>
          <p:nvPr/>
        </p:nvSpPr>
        <p:spPr>
          <a:xfrm>
            <a:off x="2276771" y="400762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DE91522-13BF-4E58-0BC9-55A6A7A3E5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3666" y="4456879"/>
            <a:ext cx="5799323" cy="2300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836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2E592-B9B0-7D4B-C69E-DEEDA11D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9E6C13-DB72-7032-863C-7961180EB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62" y="1104533"/>
            <a:ext cx="4922724" cy="3220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C9A118-602E-F6F4-0FE8-5E5537A9C9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62" y="4642107"/>
            <a:ext cx="5037024" cy="20526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40A0C1B-8099-BA89-873F-140CBDA895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450" y="4751615"/>
            <a:ext cx="5586549" cy="19431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59BDE8A-0C7E-8E80-AA01-4F33978473B2}"/>
              </a:ext>
            </a:extLst>
          </p:cNvPr>
          <p:cNvSpPr txBox="1"/>
          <p:nvPr/>
        </p:nvSpPr>
        <p:spPr>
          <a:xfrm>
            <a:off x="2580541" y="468697"/>
            <a:ext cx="9225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Q13. CALCULATE THE YEAR OVER YEAR GROWTH RATE OF TOTAL SALES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1D78F7-580A-32B9-2A2D-E115D855A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450" y="1145806"/>
            <a:ext cx="5842364" cy="3178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C8793-2F70-BDC2-5245-7711751EF86D}"/>
              </a:ext>
            </a:extLst>
          </p:cNvPr>
          <p:cNvSpPr txBox="1"/>
          <p:nvPr/>
        </p:nvSpPr>
        <p:spPr>
          <a:xfrm>
            <a:off x="2448716" y="83802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5B6856-BBBC-4B16-F631-CDEA1A123EAB}"/>
              </a:ext>
            </a:extLst>
          </p:cNvPr>
          <p:cNvSpPr txBox="1"/>
          <p:nvPr/>
        </p:nvSpPr>
        <p:spPr>
          <a:xfrm>
            <a:off x="9005523" y="684140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F5CCA-0321-D7A7-871D-844B4E22922F}"/>
              </a:ext>
            </a:extLst>
          </p:cNvPr>
          <p:cNvSpPr txBox="1"/>
          <p:nvPr/>
        </p:nvSpPr>
        <p:spPr>
          <a:xfrm>
            <a:off x="2535802" y="432394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32D79D-4C72-CA35-B23F-8F6C6A276107}"/>
              </a:ext>
            </a:extLst>
          </p:cNvPr>
          <p:cNvSpPr txBox="1"/>
          <p:nvPr/>
        </p:nvSpPr>
        <p:spPr>
          <a:xfrm>
            <a:off x="8759546" y="432472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15590759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1DFB-ED6D-EAC8-AD14-08E8D584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54378D-5D72-6617-AC77-D0F53D672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280" y="1448952"/>
            <a:ext cx="5340428" cy="35053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2C58F6-DCE0-21CE-DFDE-55444BFFC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280" y="5307836"/>
            <a:ext cx="5340428" cy="9525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A19719-7635-C8DB-FA63-41EEF1440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38" y="5372269"/>
            <a:ext cx="5340428" cy="8881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CFEAA6-ADDE-E3DC-C66E-75B3345753D8}"/>
              </a:ext>
            </a:extLst>
          </p:cNvPr>
          <p:cNvSpPr txBox="1"/>
          <p:nvPr/>
        </p:nvSpPr>
        <p:spPr>
          <a:xfrm>
            <a:off x="876658" y="455793"/>
            <a:ext cx="11576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Q14. CALCULATE THE RETENSION RATE OF CUSTOMERS, DEFINED AS THE PERCENTAGE OF CUSTOMERS WHO MAKE ANOTHER PURCHASE WITHIN 6 MONTHS OF THEIR FIRST PURCHASE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1FD0D4-7E7B-06D5-4A2B-70D723273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38" y="1459623"/>
            <a:ext cx="5360533" cy="35201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1EDEE-9817-5424-6F81-3BA6906276F6}"/>
              </a:ext>
            </a:extLst>
          </p:cNvPr>
          <p:cNvSpPr txBox="1"/>
          <p:nvPr/>
        </p:nvSpPr>
        <p:spPr>
          <a:xfrm>
            <a:off x="2063678" y="11411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EDD1C-DC7E-339A-EBEF-87356963AB63}"/>
              </a:ext>
            </a:extLst>
          </p:cNvPr>
          <p:cNvSpPr txBox="1"/>
          <p:nvPr/>
        </p:nvSpPr>
        <p:spPr>
          <a:xfrm>
            <a:off x="9005522" y="1066274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7F7069-9CC8-ABD3-E92D-6EDF504402CF}"/>
              </a:ext>
            </a:extLst>
          </p:cNvPr>
          <p:cNvSpPr txBox="1"/>
          <p:nvPr/>
        </p:nvSpPr>
        <p:spPr>
          <a:xfrm>
            <a:off x="2380082" y="500338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7A58D7-4812-25A1-30D6-15AD23287FE8}"/>
              </a:ext>
            </a:extLst>
          </p:cNvPr>
          <p:cNvSpPr txBox="1"/>
          <p:nvPr/>
        </p:nvSpPr>
        <p:spPr>
          <a:xfrm>
            <a:off x="8858420" y="49244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13664791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8DDD-AA92-E725-CDBD-A2BFC2D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3DE56D-0214-B2A7-0185-5FBA42715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641" y="1031058"/>
            <a:ext cx="5209229" cy="26503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924724-9309-2C32-83F7-81C043DCA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8386" y="4095731"/>
            <a:ext cx="5209229" cy="25986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EAC894-F3FA-F113-F447-E909ACDAD533}"/>
              </a:ext>
            </a:extLst>
          </p:cNvPr>
          <p:cNvSpPr txBox="1"/>
          <p:nvPr/>
        </p:nvSpPr>
        <p:spPr>
          <a:xfrm>
            <a:off x="1616529" y="495996"/>
            <a:ext cx="9940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Q15. IDENTIFY THE TOP 3 CUSTOMERS WHO SPENT THE MOST MONEY IN EACH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6CE3C3-A7BE-E3DF-F8E1-05841B01D7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723" y="1031058"/>
            <a:ext cx="5804433" cy="25911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1749ED-3694-157B-FCA5-27A99F88C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723" y="4095732"/>
            <a:ext cx="5804433" cy="25986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F95B26-2294-7D0E-BA0A-0532B9FE8DCF}"/>
              </a:ext>
            </a:extLst>
          </p:cNvPr>
          <p:cNvSpPr txBox="1"/>
          <p:nvPr/>
        </p:nvSpPr>
        <p:spPr>
          <a:xfrm>
            <a:off x="2249285" y="72328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0E3E06-ECB8-B37D-2C90-0C63ECC426A8}"/>
              </a:ext>
            </a:extLst>
          </p:cNvPr>
          <p:cNvSpPr txBox="1"/>
          <p:nvPr/>
        </p:nvSpPr>
        <p:spPr>
          <a:xfrm>
            <a:off x="8900825" y="784305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491201-A4A7-E26A-A023-8E8B5F0B82A9}"/>
              </a:ext>
            </a:extLst>
          </p:cNvPr>
          <p:cNvSpPr txBox="1"/>
          <p:nvPr/>
        </p:nvSpPr>
        <p:spPr>
          <a:xfrm>
            <a:off x="2468124" y="378795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283400-78D3-0F38-FFE5-7AF4DA3B800F}"/>
              </a:ext>
            </a:extLst>
          </p:cNvPr>
          <p:cNvSpPr txBox="1"/>
          <p:nvPr/>
        </p:nvSpPr>
        <p:spPr>
          <a:xfrm>
            <a:off x="8759546" y="368137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38966092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6E38C-B9D3-D228-D205-0C605016D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22F367-2A78-6981-2202-E8787F179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348" y="571500"/>
            <a:ext cx="9236989" cy="6155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798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12BA-953F-0DB7-165C-48C4A8E51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307571-3ACB-3DB5-725F-2EF5D55B1221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Key Business Insight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0F827E-CD91-5840-761F-17952BFED5C2}"/>
              </a:ext>
            </a:extLst>
          </p:cNvPr>
          <p:cNvSpPr txBox="1"/>
          <p:nvPr/>
        </p:nvSpPr>
        <p:spPr>
          <a:xfrm>
            <a:off x="1191986" y="2106854"/>
            <a:ext cx="10760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São Paulo dominates  — SP state has 42% of all customers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Health &amp; Beauty is top category — Rs1.25M in total sales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Half of customers pay in installments — 49.42% use installment plans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Massive growth in 2017  — Business grew 12,745% compared to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Low retention rate — Most customers purchase only once, suggesting need for  loyalty programs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 Seasonal peaks  — November 2017 had highest monthly sales (Rs863K) likely due to Black Friday</a:t>
            </a:r>
          </a:p>
        </p:txBody>
      </p:sp>
    </p:spTree>
    <p:extLst>
      <p:ext uri="{BB962C8B-B14F-4D97-AF65-F5344CB8AC3E}">
        <p14:creationId xmlns:p14="http://schemas.microsoft.com/office/powerpoint/2010/main" val="5900639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4A01-5CA3-D5D2-AAC0-217F1093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01FD5-A77B-F126-73E3-E52584399A08}"/>
              </a:ext>
            </a:extLst>
          </p:cNvPr>
          <p:cNvSpPr txBox="1"/>
          <p:nvPr/>
        </p:nvSpPr>
        <p:spPr>
          <a:xfrm>
            <a:off x="4787202" y="2739955"/>
            <a:ext cx="2617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02863688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{C37D759B-109A-4BB0-AA6D-951B2244AB88}TF8a9b5915-b8c7-461e-8cdd-693d48b5e32371f7b7e2_win32-4bf0b9a2ea37</Template>
  <TotalTime>495</TotalTime>
  <Words>726</Words>
  <Application>Microsoft Office PowerPoint</Application>
  <PresentationFormat>Widescreen</PresentationFormat>
  <Paragraphs>115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Sabon Next LT</vt:lpstr>
      <vt:lpstr>Times New Roman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SHREYASH KALE</dc:creator>
  <cp:lastModifiedBy>SHREYASH KALE</cp:lastModifiedBy>
  <cp:revision>15</cp:revision>
  <dcterms:created xsi:type="dcterms:W3CDTF">2026-05-08T03:33:49Z</dcterms:created>
  <dcterms:modified xsi:type="dcterms:W3CDTF">2026-05-20T08:18:15Z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