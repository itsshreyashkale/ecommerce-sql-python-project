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2"/>
  </p:notesMasterIdLst>
  <p:handoutMasterIdLst>
    <p:handoutMasterId r:id="rId33"/>
  </p:handoutMasterIdLst>
  <p:sldIdLst>
    <p:sldId id="321" r:id="rId5"/>
    <p:sldId id="322" r:id="rId6"/>
    <p:sldId id="323" r:id="rId7"/>
    <p:sldId id="328" r:id="rId8"/>
    <p:sldId id="329" r:id="rId9"/>
    <p:sldId id="336" r:id="rId10"/>
    <p:sldId id="337" r:id="rId11"/>
    <p:sldId id="338" r:id="rId12"/>
    <p:sldId id="339" r:id="rId13"/>
    <p:sldId id="340" r:id="rId14"/>
    <p:sldId id="330" r:id="rId15"/>
    <p:sldId id="334" r:id="rId16"/>
    <p:sldId id="341" r:id="rId17"/>
    <p:sldId id="342" r:id="rId18"/>
    <p:sldId id="343" r:id="rId19"/>
    <p:sldId id="344" r:id="rId20"/>
    <p:sldId id="345" r:id="rId21"/>
    <p:sldId id="325" r:id="rId22"/>
    <p:sldId id="335" r:id="rId23"/>
    <p:sldId id="346" r:id="rId24"/>
    <p:sldId id="347" r:id="rId25"/>
    <p:sldId id="348" r:id="rId26"/>
    <p:sldId id="350" r:id="rId27"/>
    <p:sldId id="349" r:id="rId28"/>
    <p:sldId id="324" r:id="rId29"/>
    <p:sldId id="331" r:id="rId30"/>
    <p:sldId id="332" r:id="rId31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30684-F192-7346-E993-FCF79678F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6568B-C161-A6CC-A03D-F7EDA024C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F2801-36EA-FDFA-5CB1-B27160D34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22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5B0B6-B0E7-14C6-B2DE-576900F02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E6BAE-5106-AC82-6EBB-FDEAB2924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026EA-F08D-7EFB-6547-F66696B1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752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714500" y="1552914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646484" y="2804748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4712677" y="3871916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AD7EB-334E-555E-753E-80DA4817E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CDD831-17E8-DC91-D7DA-43F4FB5F9440}"/>
              </a:ext>
            </a:extLst>
          </p:cNvPr>
          <p:cNvSpPr txBox="1"/>
          <p:nvPr/>
        </p:nvSpPr>
        <p:spPr>
          <a:xfrm>
            <a:off x="3771900" y="879231"/>
            <a:ext cx="5225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B4BD6-0910-8F82-D878-569CA5621BCC}"/>
              </a:ext>
            </a:extLst>
          </p:cNvPr>
          <p:cNvSpPr txBox="1"/>
          <p:nvPr/>
        </p:nvSpPr>
        <p:spPr>
          <a:xfrm>
            <a:off x="2294793" y="2835716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415227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0F7F-712F-8ED8-4850-B81FF36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9D36EEFA-D203-E083-D917-3221D7642F97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A7549A-C25A-E59D-F49D-94DC8838F9DC}"/>
              </a:ext>
            </a:extLst>
          </p:cNvPr>
          <p:cNvSpPr txBox="1"/>
          <p:nvPr/>
        </p:nvSpPr>
        <p:spPr>
          <a:xfrm>
            <a:off x="1289957" y="2081685"/>
            <a:ext cx="99173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                              Description                                Rows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customers.csv      Customer demographic details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sellers.csv            Seller information                               3,095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orders.csv            Order history and details         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order_items.csv   Order items details                          112,650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payments.csv       Payment details                               103,886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products.csv         Product details                                  32,951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geolocation.csv    Geolocation details                      1,000,163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B23318-12FF-237B-D4E5-632CE3D3DEDF}"/>
              </a:ext>
            </a:extLst>
          </p:cNvPr>
          <p:cNvCxnSpPr>
            <a:cxnSpLocks/>
          </p:cNvCxnSpPr>
          <p:nvPr/>
        </p:nvCxnSpPr>
        <p:spPr>
          <a:xfrm>
            <a:off x="1143000" y="2530929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146B30-351E-52EA-27A9-45E0EED781C4}"/>
              </a:ext>
            </a:extLst>
          </p:cNvPr>
          <p:cNvCxnSpPr>
            <a:cxnSpLocks/>
          </p:cNvCxnSpPr>
          <p:nvPr/>
        </p:nvCxnSpPr>
        <p:spPr>
          <a:xfrm>
            <a:off x="1094014" y="2081685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50910F-7900-BCDC-02C0-F437E5BA8EE5}"/>
              </a:ext>
            </a:extLst>
          </p:cNvPr>
          <p:cNvCxnSpPr>
            <a:cxnSpLocks/>
          </p:cNvCxnSpPr>
          <p:nvPr/>
        </p:nvCxnSpPr>
        <p:spPr>
          <a:xfrm>
            <a:off x="1143000" y="5626558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00E8D68-BCA9-4E40-F2B5-1C798D1E534B}"/>
              </a:ext>
            </a:extLst>
          </p:cNvPr>
          <p:cNvCxnSpPr>
            <a:cxnSpLocks/>
          </p:cNvCxnSpPr>
          <p:nvPr/>
        </p:nvCxnSpPr>
        <p:spPr>
          <a:xfrm flipV="1">
            <a:off x="10629900" y="2087128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E1CB88E-D3F3-9ABA-D1C1-5AE4308E9EDE}"/>
              </a:ext>
            </a:extLst>
          </p:cNvPr>
          <p:cNvCxnSpPr>
            <a:cxnSpLocks/>
          </p:cNvCxnSpPr>
          <p:nvPr/>
        </p:nvCxnSpPr>
        <p:spPr>
          <a:xfrm flipV="1">
            <a:off x="8675915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48AB694-CFA9-5AFD-2E32-C7E667139DC6}"/>
              </a:ext>
            </a:extLst>
          </p:cNvPr>
          <p:cNvCxnSpPr>
            <a:cxnSpLocks/>
          </p:cNvCxnSpPr>
          <p:nvPr/>
        </p:nvCxnSpPr>
        <p:spPr>
          <a:xfrm flipV="1">
            <a:off x="3940628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10E603-5D4C-4DB0-4A44-CEC445662760}"/>
              </a:ext>
            </a:extLst>
          </p:cNvPr>
          <p:cNvCxnSpPr>
            <a:cxnSpLocks/>
          </p:cNvCxnSpPr>
          <p:nvPr/>
        </p:nvCxnSpPr>
        <p:spPr>
          <a:xfrm flipV="1">
            <a:off x="1143000" y="2092571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28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49.42%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A4825E-C8EF-A40C-8B59-4BB5C0291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09" y="2356677"/>
            <a:ext cx="5082980" cy="800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806C17E-7B30-3560-FB6B-B21931614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8821" y="3732212"/>
            <a:ext cx="3657917" cy="25605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63F1E3-419E-4DE0-8771-C468D88ED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004" y="2449471"/>
            <a:ext cx="3204440" cy="6505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3699" y="958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UNIQUE CITIES WHERE CUSTOMERS ARE LOCATED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499D95F-E7BB-7D5A-C0E4-A95CC08E4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3420" y="4125177"/>
            <a:ext cx="3101609" cy="118120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521D08-E784-F1C0-C988-C31C938D1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621" y="2369723"/>
            <a:ext cx="4496190" cy="8535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F0F7EB-5319-E746-752C-4DF516E2D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287" y="4622033"/>
            <a:ext cx="3970364" cy="9297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7B5DC1-186C-6AF1-3FBB-F27E87B8B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907" y="4972553"/>
            <a:ext cx="1849966" cy="4459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E85233-D70A-3032-9E9E-46483BD982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875" y="2308763"/>
            <a:ext cx="4949525" cy="11202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657600" y="10701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COUNT OF NO. OF ORDERS PLACED IN 2017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3BD5C-ABC6-ACB4-8F9B-CB998BC7575A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270176-2C4B-9A7C-3AE0-DBA39648028E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890DBD-85C6-D403-2692-DFFE059D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307" y="1894031"/>
            <a:ext cx="3817951" cy="15393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640E45-F38D-3C95-D355-97E1378E5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3784" y="3713745"/>
            <a:ext cx="3048313" cy="28626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337499-8EA4-790F-A31E-3D5788798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584" y="1833888"/>
            <a:ext cx="4534293" cy="19127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EB9F6C-3979-3246-1647-3779CDFF10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3410" y="3975191"/>
            <a:ext cx="4511431" cy="195851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4587240" y="10676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TOTAL SALES PER CATEGORY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A002F1-34D3-3AB2-A0D2-B95FCDB44720}"/>
              </a:ext>
            </a:extLst>
          </p:cNvPr>
          <p:cNvSpPr txBox="1"/>
          <p:nvPr/>
        </p:nvSpPr>
        <p:spPr>
          <a:xfrm>
            <a:off x="2224453" y="1451482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126D2-E1A5-10D4-1420-417BACD027BB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7DEEAC-1C58-A01D-4BA9-87159C525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460" y="2809559"/>
            <a:ext cx="5311600" cy="10059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F4F79D-3293-EA89-4C1A-0D3BAB82F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928" y="4612229"/>
            <a:ext cx="3741744" cy="1066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632" y="2620846"/>
            <a:ext cx="4450368" cy="14250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2421EC-F10F-E887-AAA6-4A4F3C1EB8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3954" y="4789286"/>
            <a:ext cx="2844741" cy="8060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3870816" y="107804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% OF ORDERS PLACED IN INSTALLMENTS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044612-C6D0-3CD1-5D71-48541ADAD67D}"/>
              </a:ext>
            </a:extLst>
          </p:cNvPr>
          <p:cNvSpPr txBox="1"/>
          <p:nvPr/>
        </p:nvSpPr>
        <p:spPr>
          <a:xfrm>
            <a:off x="2580542" y="1805077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D6562-030D-7E4A-9AEE-DD58900E75D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212BC-D2C3-FB78-8099-80E85D6D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579" y="2312624"/>
            <a:ext cx="3101609" cy="10440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769B89-0A5B-407F-363F-26FFEDD6B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092" y="3642360"/>
            <a:ext cx="2789096" cy="2889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1398" y="3131940"/>
            <a:ext cx="4740051" cy="731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9E9DC0-BF23-173E-1597-155DDE2DD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3211" y="4770090"/>
            <a:ext cx="2644369" cy="10364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3668896" y="87460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CUSTOMERS FROM EACH STATE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E04A2-7696-91D0-F7B3-4F0DFA51187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B0092-8D90-D824-5F57-B91E8289FA3C}"/>
              </a:ext>
            </a:extLst>
          </p:cNvPr>
          <p:cNvSpPr txBox="1"/>
          <p:nvPr/>
        </p:nvSpPr>
        <p:spPr>
          <a:xfrm>
            <a:off x="8894457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6,288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267D81-D8F2-4774-A4CA-D38481930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197" y="2316428"/>
            <a:ext cx="3696020" cy="11888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48A3D1-C8D4-3054-5DF1-F7FDB4E92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957" y="4259375"/>
            <a:ext cx="4168501" cy="2370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55224D-154F-4289-E4C0-8D06C017E9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0037" y="2217360"/>
            <a:ext cx="3482642" cy="13869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506622-4F41-A7FB-0816-46579052EB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360" y="3947160"/>
            <a:ext cx="2316520" cy="26822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4175760" y="10939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ORDERS PLACED IN 2018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71C028-9CA5-D877-4F9F-F7AC5AC39FEF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82D7A-D442-BD44-2979-891E74800BA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268635-70A8-ADEF-3C33-21E0F2308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065" y="2022231"/>
            <a:ext cx="3429297" cy="17040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F707DF-437B-F726-6598-CA8CD261C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429" y="3978061"/>
            <a:ext cx="2720571" cy="25526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40BAC4-2D45-FED0-D4F3-E7C654C92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9805" y="2514894"/>
            <a:ext cx="3292125" cy="14631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FE268-BC05-B4E3-791C-226D69D47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839" y="4732363"/>
            <a:ext cx="3132091" cy="104403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529839" y="759535"/>
            <a:ext cx="677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AVG NO. OF PRODUCTS PER ORDER BY CUSTOMER CITY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F9A3F-FD6A-CF0F-D0DB-E164B7AE271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396A10-1FAF-E61C-00EB-61E8C83CEC1E}"/>
              </a:ext>
            </a:extLst>
          </p:cNvPr>
          <p:cNvSpPr txBox="1"/>
          <p:nvPr/>
        </p:nvSpPr>
        <p:spPr>
          <a:xfrm>
            <a:off x="8872493" y="1514103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46D334-8BF4-92BB-6B93-2EDFA21FC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222" y="2522320"/>
            <a:ext cx="5829805" cy="1386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95E0C-BCD2-269D-3589-85B0F2937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4984" y="4099441"/>
            <a:ext cx="3381461" cy="23632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9A4DE8-9D32-ADE9-437A-0474130AAA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7247" y="2369907"/>
            <a:ext cx="3368332" cy="16917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7E51CA-88C6-39B7-8D50-6C6BD7998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8661" y="5035362"/>
            <a:ext cx="3436918" cy="99830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3048000" y="7001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CONTRIBUTION OF EACH CATEGORY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646EC-8DB4-C7F0-28B5-80EEDEB4614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D7F8AF-C873-794F-07E7-E00C4E680439}"/>
              </a:ext>
            </a:extLst>
          </p:cNvPr>
          <p:cNvSpPr txBox="1"/>
          <p:nvPr/>
        </p:nvSpPr>
        <p:spPr>
          <a:xfrm>
            <a:off x="8535275" y="1565781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B9ADDBC-5156-C9C3-DE0F-25F16F333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14" y="2400209"/>
            <a:ext cx="5260643" cy="2408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76C87-4780-B7BC-078B-D938955CC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80" y="5593317"/>
            <a:ext cx="3139712" cy="2667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2B7FE4-DF89-3F53-C770-EDC2472E94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9018" y="2224935"/>
            <a:ext cx="5159187" cy="27586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56D04A8-A7D0-5C53-1A66-4F31C6A2F5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858" y="5726678"/>
            <a:ext cx="5159187" cy="3426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2270760" y="968899"/>
            <a:ext cx="701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CORELATION : PRODUCT PRICE VS PURCHASE FREQUENCY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4D561-A54C-E2C7-6DCB-9E6A25A145C4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8D7C1-8F57-47C4-D607-340A7AE269B4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A4AFCF-F7B9-E16C-BAD7-5585A4E4A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607" y="2262322"/>
            <a:ext cx="3711262" cy="1501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A8D3-56C4-D9EB-CEB2-B9BF65DA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398" y="4070837"/>
            <a:ext cx="3669801" cy="261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FA9D7-EF2D-5686-387F-D72B4B9EDA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1695" y="2071712"/>
            <a:ext cx="4611086" cy="23375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7C485E-9220-6203-16E9-A04475596D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760" y="4572971"/>
            <a:ext cx="3607286" cy="1797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3597238" y="9087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BY SELLER AND RANKING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A2843B-D56B-CC1F-C287-B7BE064EDFF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A77C1E-079E-1E7E-5212-9318E90EF249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C16FA7-B4B0-BEB5-9ED9-E03E464B2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98" y="2244662"/>
            <a:ext cx="3825572" cy="1782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3F1290-3A96-C010-0118-AEEB8874A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110" y="4424064"/>
            <a:ext cx="4238348" cy="22192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97B81-F6F1-6292-6CA5-C3106D86D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4513" y="2244662"/>
            <a:ext cx="4069280" cy="2179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ECDA25-EE61-1A63-4999-3A27D3206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0161" y="4758671"/>
            <a:ext cx="3772050" cy="16144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2804433" y="647295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MOVING AVERAGE OF ORDER VALUES FOR EACH CUSTOMER OVER THEIR ORDER HISTORY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9D391-2D62-5A77-1B49-68015EFF5A72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8E1E1-C4DE-3F46-E914-CC4622EF8A30}"/>
              </a:ext>
            </a:extLst>
          </p:cNvPr>
          <p:cNvSpPr txBox="1"/>
          <p:nvPr/>
        </p:nvSpPr>
        <p:spPr>
          <a:xfrm>
            <a:off x="8937064" y="158474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CE1E9E-0D33-9A97-C63E-FDBA4A468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701" y="2126875"/>
            <a:ext cx="3977985" cy="20728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E7FA4C-33B8-459B-8723-BB3B88D1E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100" y="4311919"/>
            <a:ext cx="2897969" cy="24451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F92A01-12D8-9EB6-1D18-E30070857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615" y="2239099"/>
            <a:ext cx="4516160" cy="20728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A8BC4-F16A-175E-5BA6-C92DD4B86A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1931" y="4618901"/>
            <a:ext cx="4326844" cy="16946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3173974" y="745085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COMULATIVE SALES PER MONTH OF EACH YEAR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DEC3FB-48B2-7817-E7EA-E44892C9D2E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600B6E-974F-A66A-933F-624EBF262655}"/>
              </a:ext>
            </a:extLst>
          </p:cNvPr>
          <p:cNvSpPr txBox="1"/>
          <p:nvPr/>
        </p:nvSpPr>
        <p:spPr>
          <a:xfrm>
            <a:off x="8865577" y="152286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9E6C13-DB72-7032-863C-7961180EB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497" y="2266525"/>
            <a:ext cx="4343776" cy="25910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9A118-602E-F6F4-0FE8-5E5537A9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497" y="5064719"/>
            <a:ext cx="4503810" cy="15317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28C061-090B-4972-5FE5-7CB595CFD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123" y="2266525"/>
            <a:ext cx="4162289" cy="2591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40A0C1B-8099-BA89-873F-140CBDA89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732" y="5213921"/>
            <a:ext cx="3177815" cy="8535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4633157" y="902771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YEAR ON YEAR GROWTH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93FF0D-0E82-3FCA-F6B3-9244F68819C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4D0E4A-2597-8328-4789-7C362F6A79D9}"/>
              </a:ext>
            </a:extLst>
          </p:cNvPr>
          <p:cNvSpPr txBox="1"/>
          <p:nvPr/>
        </p:nvSpPr>
        <p:spPr>
          <a:xfrm>
            <a:off x="8910165" y="150874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54378D-5D72-6617-AC77-D0F53D672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007" y="2220686"/>
            <a:ext cx="4511431" cy="2796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2C58F6-DCE0-21CE-DFDE-55444BFFC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28" y="5097276"/>
            <a:ext cx="4054191" cy="952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A43576-8B17-1826-0A66-D149BB8D0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2653" y="2355911"/>
            <a:ext cx="4233864" cy="2661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732" y="5372269"/>
            <a:ext cx="1234547" cy="3962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4320268" y="10726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CUSTOMER RETENTION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133F63-6665-2795-D843-0C6494A246CC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787A6-928B-8773-CAF0-F53DD92BAA52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3DE56D-0214-B2A7-0185-5FBA4271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877" y="1907977"/>
            <a:ext cx="3977985" cy="2253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924724-9309-2C32-83F7-81C043DCA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99" y="4273582"/>
            <a:ext cx="4740051" cy="2471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EB6790-C479-3604-D3D3-085B6FC1C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142" y="2173710"/>
            <a:ext cx="4487544" cy="2099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693137-7847-2257-9D3D-772BB44501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5324" y="4553481"/>
            <a:ext cx="3794362" cy="15012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2818709" y="817416"/>
            <a:ext cx="7582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 3 CUSTOMERS WHO SPENT THE MOST MONEY IN EACH YEAR.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8210B-0CEA-FA0E-9101-1B3F3251F6E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003E4B-A218-D632-7E60-529A57B14858}"/>
              </a:ext>
            </a:extLst>
          </p:cNvPr>
          <p:cNvSpPr txBox="1"/>
          <p:nvPr/>
        </p:nvSpPr>
        <p:spPr>
          <a:xfrm>
            <a:off x="8979877" y="149729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39955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167</TotalTime>
  <Words>601</Words>
  <Application>Microsoft Office PowerPoint</Application>
  <PresentationFormat>Widescreen</PresentationFormat>
  <Paragraphs>96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8</cp:revision>
  <dcterms:created xsi:type="dcterms:W3CDTF">2026-05-08T03:33:49Z</dcterms:created>
  <dcterms:modified xsi:type="dcterms:W3CDTF">2026-05-15T11:32:06Z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