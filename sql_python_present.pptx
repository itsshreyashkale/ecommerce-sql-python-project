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0"/>
  </p:notesMasterIdLst>
  <p:handoutMasterIdLst>
    <p:handoutMasterId r:id="rId31"/>
  </p:handoutMasterIdLst>
  <p:sldIdLst>
    <p:sldId id="321" r:id="rId5"/>
    <p:sldId id="322" r:id="rId6"/>
    <p:sldId id="329" r:id="rId7"/>
    <p:sldId id="336" r:id="rId8"/>
    <p:sldId id="337" r:id="rId9"/>
    <p:sldId id="338" r:id="rId10"/>
    <p:sldId id="339" r:id="rId11"/>
    <p:sldId id="340" r:id="rId12"/>
    <p:sldId id="330" r:id="rId13"/>
    <p:sldId id="334" r:id="rId14"/>
    <p:sldId id="341" r:id="rId15"/>
    <p:sldId id="342" r:id="rId16"/>
    <p:sldId id="343" r:id="rId17"/>
    <p:sldId id="344" r:id="rId18"/>
    <p:sldId id="345" r:id="rId19"/>
    <p:sldId id="325" r:id="rId20"/>
    <p:sldId id="335" r:id="rId21"/>
    <p:sldId id="346" r:id="rId22"/>
    <p:sldId id="347" r:id="rId23"/>
    <p:sldId id="348" r:id="rId24"/>
    <p:sldId id="350" r:id="rId25"/>
    <p:sldId id="349" r:id="rId26"/>
    <p:sldId id="324" r:id="rId27"/>
    <p:sldId id="331" r:id="rId28"/>
    <p:sldId id="332" r:id="rId29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814628" y="1168510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746612" y="2442583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5008748" y="6262075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B3C2D-FB00-E395-7AB2-2206DDD18691}"/>
              </a:ext>
            </a:extLst>
          </p:cNvPr>
          <p:cNvSpPr txBox="1"/>
          <p:nvPr/>
        </p:nvSpPr>
        <p:spPr>
          <a:xfrm>
            <a:off x="2646484" y="3531990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51.46%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4117" y="432182"/>
            <a:ext cx="7565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Q1. LIST ALL 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830600" y="144895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9005522" y="1448953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409" y="4249990"/>
            <a:ext cx="5342083" cy="1692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A6D326-65C4-BB6D-994D-C4C5AC1F0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410" y="1975834"/>
            <a:ext cx="5248928" cy="10316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0A2C45-5855-1453-4252-8F4BF1DF45F6}"/>
              </a:ext>
            </a:extLst>
          </p:cNvPr>
          <p:cNvSpPr txBox="1"/>
          <p:nvPr/>
        </p:nvSpPr>
        <p:spPr>
          <a:xfrm>
            <a:off x="2468124" y="327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AC449-BAAE-19C0-BC1D-E02F6E4B1A80}"/>
              </a:ext>
            </a:extLst>
          </p:cNvPr>
          <p:cNvSpPr txBox="1"/>
          <p:nvPr/>
        </p:nvSpPr>
        <p:spPr>
          <a:xfrm>
            <a:off x="8759546" y="32197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6136F4-6CD1-A337-BA3F-9BF22EE4F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4980" y="4249990"/>
            <a:ext cx="5082978" cy="1767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1C0544-F1D6-8E72-8500-3B62A5D52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4980" y="1943978"/>
            <a:ext cx="5082978" cy="1063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543299" y="457501"/>
            <a:ext cx="6531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Q2. COUNT THE NUMBER OF ORDERS PLACED IN 2017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67" y="2131646"/>
            <a:ext cx="4825717" cy="14200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71B109-E2D5-CFA6-7C36-759CD73F9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267" y="4484381"/>
            <a:ext cx="4825717" cy="14200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2C1077-C044-CED0-2E9D-B6A878D5C6C2}"/>
              </a:ext>
            </a:extLst>
          </p:cNvPr>
          <p:cNvSpPr txBox="1"/>
          <p:nvPr/>
        </p:nvSpPr>
        <p:spPr>
          <a:xfrm>
            <a:off x="2679737" y="141913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F15BAE-F942-8A07-4FA1-5FC822DC1478}"/>
              </a:ext>
            </a:extLst>
          </p:cNvPr>
          <p:cNvSpPr txBox="1"/>
          <p:nvPr/>
        </p:nvSpPr>
        <p:spPr>
          <a:xfrm>
            <a:off x="8951299" y="1330557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907EF2-C91F-63CB-9E75-121701729D7E}"/>
              </a:ext>
            </a:extLst>
          </p:cNvPr>
          <p:cNvSpPr txBox="1"/>
          <p:nvPr/>
        </p:nvSpPr>
        <p:spPr>
          <a:xfrm>
            <a:off x="2879893" y="3889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665776-8A23-6106-4239-98691F97ADE2}"/>
              </a:ext>
            </a:extLst>
          </p:cNvPr>
          <p:cNvSpPr txBox="1"/>
          <p:nvPr/>
        </p:nvSpPr>
        <p:spPr>
          <a:xfrm>
            <a:off x="8705322" y="38891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56FE32-638D-BBAB-0B6B-462B4D792A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918" y="4478414"/>
            <a:ext cx="4825717" cy="1420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EB3CE9-BC93-D249-1551-09E469AF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918" y="2142057"/>
            <a:ext cx="4825717" cy="140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3917206" y="40812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Q3. FIND THE TOTAL SALES PER CATEGORY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6CCF1-46AF-F55F-E3E2-DAE22A7C1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2" y="1051331"/>
            <a:ext cx="5579655" cy="31336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D39D73-34E6-F630-0CA4-2C2723C2F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044" y="4489499"/>
            <a:ext cx="5579655" cy="2173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499279-87A3-BAB2-00BA-6F166601D028}"/>
              </a:ext>
            </a:extLst>
          </p:cNvPr>
          <p:cNvSpPr txBox="1"/>
          <p:nvPr/>
        </p:nvSpPr>
        <p:spPr>
          <a:xfrm>
            <a:off x="2681131" y="71303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11EB2-51C8-7AA7-AD90-C8D6094C9677}"/>
              </a:ext>
            </a:extLst>
          </p:cNvPr>
          <p:cNvSpPr txBox="1"/>
          <p:nvPr/>
        </p:nvSpPr>
        <p:spPr>
          <a:xfrm>
            <a:off x="9005523" y="74355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231C8-EB56-346E-DD6C-428BE3B44BCD}"/>
              </a:ext>
            </a:extLst>
          </p:cNvPr>
          <p:cNvSpPr txBox="1"/>
          <p:nvPr/>
        </p:nvSpPr>
        <p:spPr>
          <a:xfrm>
            <a:off x="2681131" y="418172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39ABC-8850-850D-12C2-58242E588173}"/>
              </a:ext>
            </a:extLst>
          </p:cNvPr>
          <p:cNvSpPr txBox="1"/>
          <p:nvPr/>
        </p:nvSpPr>
        <p:spPr>
          <a:xfrm>
            <a:off x="8632291" y="414406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E35318-227C-2F98-B685-1111AB36C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043" y="1051330"/>
            <a:ext cx="5579655" cy="31303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2DE1B59-EF2C-E1B4-472D-FD70F590D4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32" y="4489499"/>
            <a:ext cx="5579655" cy="217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722" y="1549053"/>
            <a:ext cx="5311600" cy="23993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2058176" y="483987"/>
            <a:ext cx="9535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Q4. CALCULATE THE PERCENTAGE OF ORDERS THAT WERE PAID IN INSTALLMENTS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3" y="4709181"/>
            <a:ext cx="5311600" cy="11515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D4C7E-56E0-AFB7-EFDA-A1B338100BDE}"/>
              </a:ext>
            </a:extLst>
          </p:cNvPr>
          <p:cNvSpPr txBox="1"/>
          <p:nvPr/>
        </p:nvSpPr>
        <p:spPr>
          <a:xfrm>
            <a:off x="2830600" y="9972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E18AD-B426-6A9A-7F1B-C1C9CD8D5517}"/>
              </a:ext>
            </a:extLst>
          </p:cNvPr>
          <p:cNvSpPr txBox="1"/>
          <p:nvPr/>
        </p:nvSpPr>
        <p:spPr>
          <a:xfrm>
            <a:off x="8840455" y="99724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3117-6290-EEC3-7C92-E511C3F62509}"/>
              </a:ext>
            </a:extLst>
          </p:cNvPr>
          <p:cNvSpPr txBox="1"/>
          <p:nvPr/>
        </p:nvSpPr>
        <p:spPr>
          <a:xfrm>
            <a:off x="2468124" y="41797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2FC5A1-FD1A-A957-E685-6221D7FDAEF3}"/>
              </a:ext>
            </a:extLst>
          </p:cNvPr>
          <p:cNvSpPr txBox="1"/>
          <p:nvPr/>
        </p:nvSpPr>
        <p:spPr>
          <a:xfrm>
            <a:off x="8594478" y="415510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2C0B9EE-5C68-031A-21BE-B12CA1949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98" y="4709180"/>
            <a:ext cx="5311599" cy="11515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E47EE29-FD96-6222-06AA-8556167F8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5910" y="1549053"/>
            <a:ext cx="5457087" cy="239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358" y="1583716"/>
            <a:ext cx="4740051" cy="15992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2580542" y="604158"/>
            <a:ext cx="7299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Q5. COUNT THE NUMBER OF CUSTOMERS FROM EACH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CD4681-52C4-2154-A73B-789586C36A20}"/>
              </a:ext>
            </a:extLst>
          </p:cNvPr>
          <p:cNvSpPr txBox="1"/>
          <p:nvPr/>
        </p:nvSpPr>
        <p:spPr>
          <a:xfrm>
            <a:off x="2716300" y="115621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0420E1-909A-0718-6C5C-2FB5DD62FF9B}"/>
              </a:ext>
            </a:extLst>
          </p:cNvPr>
          <p:cNvSpPr txBox="1"/>
          <p:nvPr/>
        </p:nvSpPr>
        <p:spPr>
          <a:xfrm>
            <a:off x="9174434" y="114747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E3CA5-2F58-AEDE-0A71-B2CEDE526F5B}"/>
              </a:ext>
            </a:extLst>
          </p:cNvPr>
          <p:cNvSpPr txBox="1"/>
          <p:nvPr/>
        </p:nvSpPr>
        <p:spPr>
          <a:xfrm>
            <a:off x="2495969" y="342462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7E687-4862-55C0-75A9-238DBF0B808E}"/>
              </a:ext>
            </a:extLst>
          </p:cNvPr>
          <p:cNvSpPr txBox="1"/>
          <p:nvPr/>
        </p:nvSpPr>
        <p:spPr>
          <a:xfrm>
            <a:off x="8759546" y="343991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8ED33A-5A0A-D788-DC40-E1CA9A3D0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639" y="3832436"/>
            <a:ext cx="4740050" cy="24377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43C31F-0976-A08D-04AD-0D3AD3B7A8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639" y="1583716"/>
            <a:ext cx="4740050" cy="15992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147215-CB0B-C100-FE1F-34BD2053C4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358" y="3832436"/>
            <a:ext cx="4740051" cy="243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7269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3015762" y="581251"/>
            <a:ext cx="7255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Q6. CALCULATE THE NUMBER OF ORDERS PER MONTH IN 2018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FDFE5-D368-AC10-4136-41C8AC05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54" y="1377256"/>
            <a:ext cx="5311600" cy="23485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8A943C-695A-82E8-3275-55F36958F42D}"/>
              </a:ext>
            </a:extLst>
          </p:cNvPr>
          <p:cNvSpPr txBox="1"/>
          <p:nvPr/>
        </p:nvSpPr>
        <p:spPr>
          <a:xfrm>
            <a:off x="2830600" y="108049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4477A-BEBA-6B51-1861-0C74FCDDF999}"/>
              </a:ext>
            </a:extLst>
          </p:cNvPr>
          <p:cNvSpPr txBox="1"/>
          <p:nvPr/>
        </p:nvSpPr>
        <p:spPr>
          <a:xfrm>
            <a:off x="9005522" y="108048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41725-8D23-6F36-ACAB-29D4813FC4DE}"/>
              </a:ext>
            </a:extLst>
          </p:cNvPr>
          <p:cNvSpPr txBox="1"/>
          <p:nvPr/>
        </p:nvSpPr>
        <p:spPr>
          <a:xfrm>
            <a:off x="2468124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E325C-69AF-263B-1DE0-66BDDC518A3F}"/>
              </a:ext>
            </a:extLst>
          </p:cNvPr>
          <p:cNvSpPr txBox="1"/>
          <p:nvPr/>
        </p:nvSpPr>
        <p:spPr>
          <a:xfrm>
            <a:off x="9005522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D4F76C-BAE1-AB07-7F69-002E5845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689" y="4273040"/>
            <a:ext cx="5311599" cy="22444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089665F-66AC-243B-6FE9-A7178D3D1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689" y="1377256"/>
            <a:ext cx="5311599" cy="23485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4A4858-7CA2-F53F-0DEA-327A273D1A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55" y="4244536"/>
            <a:ext cx="5311600" cy="22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030760" y="552712"/>
            <a:ext cx="10161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 Q7. FIND THE AVERAGE NUMBER OF PRODUCTS PER ORDER, GROUPED BY CUSTOMER CITY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DEBA5-4BA0-CF8B-5178-6966536F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25" y="1255999"/>
            <a:ext cx="5616427" cy="2738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5FAD23-3BDA-7206-9460-D0B5320061A8}"/>
              </a:ext>
            </a:extLst>
          </p:cNvPr>
          <p:cNvSpPr txBox="1"/>
          <p:nvPr/>
        </p:nvSpPr>
        <p:spPr>
          <a:xfrm>
            <a:off x="2716300" y="89126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0222C3-4F17-A19C-934C-466A29DF874A}"/>
              </a:ext>
            </a:extLst>
          </p:cNvPr>
          <p:cNvSpPr txBox="1"/>
          <p:nvPr/>
        </p:nvSpPr>
        <p:spPr>
          <a:xfrm>
            <a:off x="8786767" y="86971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0E105-A5D6-F42C-0278-47F5647EC658}"/>
              </a:ext>
            </a:extLst>
          </p:cNvPr>
          <p:cNvSpPr txBox="1"/>
          <p:nvPr/>
        </p:nvSpPr>
        <p:spPr>
          <a:xfrm>
            <a:off x="2468123" y="401146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D7AC0-6AFE-B405-9BD0-3A9E750A8C32}"/>
              </a:ext>
            </a:extLst>
          </p:cNvPr>
          <p:cNvSpPr txBox="1"/>
          <p:nvPr/>
        </p:nvSpPr>
        <p:spPr>
          <a:xfrm>
            <a:off x="8320661" y="404929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831E9A-ACCB-3510-1797-A2A48CB38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8969" y="4404444"/>
            <a:ext cx="5616427" cy="24535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4F760E-1863-16B9-5F6F-B6A316FD4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969" y="1255999"/>
            <a:ext cx="5616427" cy="27387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1888B3B-9F7B-E733-0F1A-097BF7D5D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525" y="4404444"/>
            <a:ext cx="5616427" cy="245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2173887" y="447424"/>
            <a:ext cx="91877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Q8. CALCULATE THE PERCENTAGE OF TOTAL REVENUE CONTRIBUTED BY EACH  PRODUCT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8EA07F-3F3D-B6C7-0B01-A9D6721AD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0" y="956702"/>
            <a:ext cx="5532599" cy="34820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858C29-C08C-60FB-8D6B-3BCC724A8437}"/>
              </a:ext>
            </a:extLst>
          </p:cNvPr>
          <p:cNvSpPr txBox="1"/>
          <p:nvPr/>
        </p:nvSpPr>
        <p:spPr>
          <a:xfrm>
            <a:off x="1074927" y="6489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D9540-9FA8-7FB7-F719-9F2C87920761}"/>
              </a:ext>
            </a:extLst>
          </p:cNvPr>
          <p:cNvSpPr txBox="1"/>
          <p:nvPr/>
        </p:nvSpPr>
        <p:spPr>
          <a:xfrm>
            <a:off x="9554835" y="64892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1A70D-CEAF-949A-A25E-490C4041F696}"/>
              </a:ext>
            </a:extLst>
          </p:cNvPr>
          <p:cNvSpPr txBox="1"/>
          <p:nvPr/>
        </p:nvSpPr>
        <p:spPr>
          <a:xfrm>
            <a:off x="1841849" y="439161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6D786-2F05-A1C2-C863-9F0E7BE1FE8B}"/>
              </a:ext>
            </a:extLst>
          </p:cNvPr>
          <p:cNvSpPr txBox="1"/>
          <p:nvPr/>
        </p:nvSpPr>
        <p:spPr>
          <a:xfrm>
            <a:off x="8078963" y="437580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C60FE3-7D25-74E8-0200-3F3097C4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465" y="956703"/>
            <a:ext cx="5447736" cy="34820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7CF7DC-333A-5FE4-B471-397CF85AC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10" y="4683579"/>
            <a:ext cx="5532599" cy="2038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1498AF-16C1-34EF-31C2-244BE16322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465" y="4683064"/>
            <a:ext cx="5447736" cy="20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1028700" y="634831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Q9. IDENTIFY THE CORRELATION BETWEEN PRODUCT PRICE AND THE NUMBER OF TIMES A PRODUCT HAS BEEN PURCHASED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7EA78-AD2C-E743-09F1-4E3F95927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76" y="1334319"/>
            <a:ext cx="5616427" cy="28707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0288AF-CE41-42EA-2F48-4032AAE75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6" y="5295347"/>
            <a:ext cx="5616427" cy="106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4663E1-CB28-4A39-9362-8A7C47E15FB7}"/>
              </a:ext>
            </a:extLst>
          </p:cNvPr>
          <p:cNvSpPr txBox="1"/>
          <p:nvPr/>
        </p:nvSpPr>
        <p:spPr>
          <a:xfrm>
            <a:off x="2786722" y="9845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F168D-EE74-1FB8-644F-77A476DD3CD9}"/>
              </a:ext>
            </a:extLst>
          </p:cNvPr>
          <p:cNvSpPr txBox="1"/>
          <p:nvPr/>
        </p:nvSpPr>
        <p:spPr>
          <a:xfrm>
            <a:off x="8759546" y="94260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71435-713E-885A-8AF1-56C645AD1FFF}"/>
              </a:ext>
            </a:extLst>
          </p:cNvPr>
          <p:cNvSpPr txBox="1"/>
          <p:nvPr/>
        </p:nvSpPr>
        <p:spPr>
          <a:xfrm>
            <a:off x="2468124" y="435932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3F9BD-E9BC-DEF5-8045-1DB56E790D44}"/>
              </a:ext>
            </a:extLst>
          </p:cNvPr>
          <p:cNvSpPr txBox="1"/>
          <p:nvPr/>
        </p:nvSpPr>
        <p:spPr>
          <a:xfrm>
            <a:off x="8716347" y="43593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1DD6EF-1631-94FC-467A-1F44A0F1E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688" y="5295347"/>
            <a:ext cx="5610984" cy="10668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28CB7E-BFE2-CBE7-1172-CFBACD545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688" y="1334319"/>
            <a:ext cx="5610984" cy="287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1758718" y="500331"/>
            <a:ext cx="108741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Q10. CALCULATE THE TOTAL REVENUE GENERATED BY EACH SELLER, AND RANK THEM BY REVENUE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027FEA-259F-34CE-3D65-DD09CDEEE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53" y="1226819"/>
            <a:ext cx="5230586" cy="26510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4FACC-6B07-037F-42D1-7DEFCC9A4041}"/>
              </a:ext>
            </a:extLst>
          </p:cNvPr>
          <p:cNvSpPr txBox="1"/>
          <p:nvPr/>
        </p:nvSpPr>
        <p:spPr>
          <a:xfrm>
            <a:off x="2063678" y="8664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106CD-DEA9-F682-8F35-07624EFA69B1}"/>
              </a:ext>
            </a:extLst>
          </p:cNvPr>
          <p:cNvSpPr txBox="1"/>
          <p:nvPr/>
        </p:nvSpPr>
        <p:spPr>
          <a:xfrm>
            <a:off x="8972744" y="834131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4BEC4C-6181-DC5A-B9EE-3C156B2C9428}"/>
              </a:ext>
            </a:extLst>
          </p:cNvPr>
          <p:cNvSpPr txBox="1"/>
          <p:nvPr/>
        </p:nvSpPr>
        <p:spPr>
          <a:xfrm>
            <a:off x="2473881" y="387783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7A9F0-B983-48C7-173E-C2E9CB2B85E1}"/>
              </a:ext>
            </a:extLst>
          </p:cNvPr>
          <p:cNvSpPr txBox="1"/>
          <p:nvPr/>
        </p:nvSpPr>
        <p:spPr>
          <a:xfrm>
            <a:off x="8759546" y="38888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65EBF0-025A-5355-1031-824B31D80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297" y="4209067"/>
            <a:ext cx="5230586" cy="21610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8313CF-1D7C-9ABB-24A8-4ED9A2910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297" y="1226819"/>
            <a:ext cx="5230586" cy="26495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E255A3-C1EE-A308-B779-5C92DF1FF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753" y="4185612"/>
            <a:ext cx="5411524" cy="218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1600201" y="509587"/>
            <a:ext cx="10591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Q11. CALCULATE THE  MOVING AVERAGE OF ORDER VALUES FOR EACH CUSTOMER OVER THEIR ORDER HISTORY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14704-863F-38CD-ECC5-384A74F7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75" y="1021004"/>
            <a:ext cx="5578323" cy="29721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8E9263-9225-1B01-32E7-64D43ED66FEB}"/>
              </a:ext>
            </a:extLst>
          </p:cNvPr>
          <p:cNvSpPr txBox="1"/>
          <p:nvPr/>
        </p:nvSpPr>
        <p:spPr>
          <a:xfrm>
            <a:off x="2468124" y="7132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F1AEA0-DAA2-EB5E-1087-D4B17034C589}"/>
              </a:ext>
            </a:extLst>
          </p:cNvPr>
          <p:cNvSpPr txBox="1"/>
          <p:nvPr/>
        </p:nvSpPr>
        <p:spPr>
          <a:xfrm>
            <a:off x="9005523" y="75124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6D4143-04A0-070E-F950-A4451C34ECAB}"/>
              </a:ext>
            </a:extLst>
          </p:cNvPr>
          <p:cNvSpPr txBox="1"/>
          <p:nvPr/>
        </p:nvSpPr>
        <p:spPr>
          <a:xfrm>
            <a:off x="2186238" y="399313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3D4684-4E48-7C81-AC1E-7B9F22239A00}"/>
              </a:ext>
            </a:extLst>
          </p:cNvPr>
          <p:cNvSpPr txBox="1"/>
          <p:nvPr/>
        </p:nvSpPr>
        <p:spPr>
          <a:xfrm>
            <a:off x="8513569" y="395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5B771C-03CC-1A0D-B487-04A8191C4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325" y="4300909"/>
            <a:ext cx="5578323" cy="24747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B5FF412-3768-0744-018C-B9005179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1324" y="1021004"/>
            <a:ext cx="5578323" cy="29341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2D2DC93-86EC-4A17-5DBD-1373594114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674" y="4300909"/>
            <a:ext cx="5578325" cy="247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2738175" y="496857"/>
            <a:ext cx="9067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Q12. CALCULATE THE CUMULATIVE SALES PER MONTH FOR 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B29A6-C54B-43CD-C2CF-82AAE7A20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71" y="1015597"/>
            <a:ext cx="5655130" cy="34431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857C45-7AE0-0AD3-AF39-A39116CA4D34}"/>
              </a:ext>
            </a:extLst>
          </p:cNvPr>
          <p:cNvSpPr txBox="1"/>
          <p:nvPr/>
        </p:nvSpPr>
        <p:spPr>
          <a:xfrm>
            <a:off x="2229135" y="7649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5E558-9357-05FA-C195-2F8A1D73229C}"/>
              </a:ext>
            </a:extLst>
          </p:cNvPr>
          <p:cNvSpPr txBox="1"/>
          <p:nvPr/>
        </p:nvSpPr>
        <p:spPr>
          <a:xfrm>
            <a:off x="8652383" y="70781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9EC3F0-3A09-2CCA-DCBF-184A46C2F490}"/>
              </a:ext>
            </a:extLst>
          </p:cNvPr>
          <p:cNvSpPr txBox="1"/>
          <p:nvPr/>
        </p:nvSpPr>
        <p:spPr>
          <a:xfrm>
            <a:off x="8429247" y="454092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B17BBA-8BFD-FD73-683E-597165AAFAB5}"/>
              </a:ext>
            </a:extLst>
          </p:cNvPr>
          <p:cNvSpPr txBox="1"/>
          <p:nvPr/>
        </p:nvSpPr>
        <p:spPr>
          <a:xfrm>
            <a:off x="2320732" y="45409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7BA7C-B8E7-F766-C5D0-855258E9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210" y="4848705"/>
            <a:ext cx="5798152" cy="20092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33AB6-9E01-F96C-D9C4-D37C1F7FA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810" y="1020229"/>
            <a:ext cx="5798152" cy="34720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11CDBB-5ACD-0DF4-DCE8-625132884F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870" y="4848704"/>
            <a:ext cx="5701041" cy="200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2580541" y="468697"/>
            <a:ext cx="9225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Q13. CALCULATE THE YEAR OVER YEAR GROWTH RATE OF TOTAL SALES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D78F7-580A-32B9-2A2D-E115D855A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0" y="1145806"/>
            <a:ext cx="5842364" cy="3178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C8793-2F70-BDC2-5245-7711751EF86D}"/>
              </a:ext>
            </a:extLst>
          </p:cNvPr>
          <p:cNvSpPr txBox="1"/>
          <p:nvPr/>
        </p:nvSpPr>
        <p:spPr>
          <a:xfrm>
            <a:off x="2448716" y="83802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B6856-BBBC-4B16-F631-CDEA1A123EAB}"/>
              </a:ext>
            </a:extLst>
          </p:cNvPr>
          <p:cNvSpPr txBox="1"/>
          <p:nvPr/>
        </p:nvSpPr>
        <p:spPr>
          <a:xfrm>
            <a:off x="9005523" y="684140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F5CCA-0321-D7A7-871D-844B4E22922F}"/>
              </a:ext>
            </a:extLst>
          </p:cNvPr>
          <p:cNvSpPr txBox="1"/>
          <p:nvPr/>
        </p:nvSpPr>
        <p:spPr>
          <a:xfrm>
            <a:off x="2535802" y="432394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2D79D-4C72-CA35-B23F-8F6C6A276107}"/>
              </a:ext>
            </a:extLst>
          </p:cNvPr>
          <p:cNvSpPr txBox="1"/>
          <p:nvPr/>
        </p:nvSpPr>
        <p:spPr>
          <a:xfrm>
            <a:off x="8759546" y="432472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FB8D78-2FA7-0812-BAB1-156D9DF52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62" y="4632500"/>
            <a:ext cx="4922724" cy="1943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F58B36-6B6B-238B-C6C0-46F76B7BF5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62" y="1145806"/>
            <a:ext cx="4922724" cy="317891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D32EA7-938C-3564-DD21-151887C72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50" y="4632500"/>
            <a:ext cx="586801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38" y="5372269"/>
            <a:ext cx="5340428" cy="88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876658" y="455793"/>
            <a:ext cx="11576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Q14. CALCULATE THE RETENSION RATE OF CUSTOMERS, DEFINED AS THE PERCENTAGE OF CUSTOMERS WHO MAKE ANOTHER PURCHASE WITHIN 6 MONTHS OF THEIR FIRST PURCHASE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FD0D4-7E7B-06D5-4A2B-70D723273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38" y="1459623"/>
            <a:ext cx="5360533" cy="35201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1EDEE-9817-5424-6F81-3BA6906276F6}"/>
              </a:ext>
            </a:extLst>
          </p:cNvPr>
          <p:cNvSpPr txBox="1"/>
          <p:nvPr/>
        </p:nvSpPr>
        <p:spPr>
          <a:xfrm>
            <a:off x="2063678" y="1141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EDD1C-DC7E-339A-EBEF-87356963AB63}"/>
              </a:ext>
            </a:extLst>
          </p:cNvPr>
          <p:cNvSpPr txBox="1"/>
          <p:nvPr/>
        </p:nvSpPr>
        <p:spPr>
          <a:xfrm>
            <a:off x="9005522" y="106627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F7069-9CC8-ABD3-E92D-6EDF504402CF}"/>
              </a:ext>
            </a:extLst>
          </p:cNvPr>
          <p:cNvSpPr txBox="1"/>
          <p:nvPr/>
        </p:nvSpPr>
        <p:spPr>
          <a:xfrm>
            <a:off x="2380082" y="500338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7A58D7-4812-25A1-30D6-15AD23287FE8}"/>
              </a:ext>
            </a:extLst>
          </p:cNvPr>
          <p:cNvSpPr txBox="1"/>
          <p:nvPr/>
        </p:nvSpPr>
        <p:spPr>
          <a:xfrm>
            <a:off x="8858420" y="49244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1194B8-EB5E-CFA4-5B2F-AD67CADDC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6066" y="5365797"/>
            <a:ext cx="5367642" cy="888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CD2982-0CAC-3310-F8A3-9E53AD2765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065" y="1448952"/>
            <a:ext cx="5360533" cy="347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1616529" y="495996"/>
            <a:ext cx="9940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Q15. IDENTIFY THE TOP 3 CUSTOMERS WHO SPENT THE MOST MONEY IN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6CE3C3-A7BE-E3DF-F8E1-05841B01D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23" y="1031058"/>
            <a:ext cx="5804433" cy="27053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F95B26-2294-7D0E-BA0A-0532B9FE8DCF}"/>
              </a:ext>
            </a:extLst>
          </p:cNvPr>
          <p:cNvSpPr txBox="1"/>
          <p:nvPr/>
        </p:nvSpPr>
        <p:spPr>
          <a:xfrm>
            <a:off x="2249285" y="72328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E3E06-ECB8-B37D-2C90-0C63ECC426A8}"/>
              </a:ext>
            </a:extLst>
          </p:cNvPr>
          <p:cNvSpPr txBox="1"/>
          <p:nvPr/>
        </p:nvSpPr>
        <p:spPr>
          <a:xfrm>
            <a:off x="8900825" y="78430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491201-A4A7-E26A-A023-8E8B5F0B82A9}"/>
              </a:ext>
            </a:extLst>
          </p:cNvPr>
          <p:cNvSpPr txBox="1"/>
          <p:nvPr/>
        </p:nvSpPr>
        <p:spPr>
          <a:xfrm>
            <a:off x="2468124" y="378795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83400-78D3-0F38-FFE5-7AF4DA3B800F}"/>
              </a:ext>
            </a:extLst>
          </p:cNvPr>
          <p:cNvSpPr txBox="1"/>
          <p:nvPr/>
        </p:nvSpPr>
        <p:spPr>
          <a:xfrm>
            <a:off x="8759546" y="36813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82E214-E923-66B2-E760-9D55BC28D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641" y="4109343"/>
            <a:ext cx="5209229" cy="25850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F16C39-5599-2315-DCEC-C3A555258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311" y="1031058"/>
            <a:ext cx="5225559" cy="27053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2CA0D2B-7868-729C-40AD-CB93727D9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723" y="4095732"/>
            <a:ext cx="6072116" cy="258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64397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638583-2B4A-DA48-A427-8939812BEC35}"/>
              </a:ext>
            </a:extLst>
          </p:cNvPr>
          <p:cNvSpPr txBox="1"/>
          <p:nvPr/>
        </p:nvSpPr>
        <p:spPr>
          <a:xfrm>
            <a:off x="1570893" y="5521176"/>
            <a:ext cx="10996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https://github.com/itsShreyashkale/ecommerce-sql-python-project.git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7EF38-03E8-4C47-B423-CBD927963670}"/>
              </a:ext>
            </a:extLst>
          </p:cNvPr>
          <p:cNvSpPr txBox="1"/>
          <p:nvPr/>
        </p:nvSpPr>
        <p:spPr>
          <a:xfrm>
            <a:off x="1570893" y="5921286"/>
            <a:ext cx="72917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Linkedin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https://www.linkedin.com/in/shreyash-kale-204b0a228/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648</TotalTime>
  <Words>753</Words>
  <Application>Microsoft Office PowerPoint</Application>
  <PresentationFormat>Widescreen</PresentationFormat>
  <Paragraphs>117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16</cp:revision>
  <dcterms:created xsi:type="dcterms:W3CDTF">2026-05-08T03:33:49Z</dcterms:created>
  <dcterms:modified xsi:type="dcterms:W3CDTF">2026-05-20T11:52:31Z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